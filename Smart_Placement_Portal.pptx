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Libre Baskerville" charset="1" panose="02000000000000000000"/>
      <p:regular r:id="rId16"/>
    </p:embeddedFont>
    <p:embeddedFont>
      <p:font typeface="Libre Baskerville Bold" charset="1" panose="02000000000000000000"/>
      <p:regular r:id="rId17"/>
    </p:embeddedFont>
    <p:embeddedFont>
      <p:font typeface="Open Sans" charset="1" panose="00000000000000000000"/>
      <p:regular r:id="rId18"/>
    </p:embeddedFont>
    <p:embeddedFont>
      <p:font typeface="Open Sans Bold" charset="1" panose="0000000000000000000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6.jpeg" Type="http://schemas.openxmlformats.org/officeDocument/2006/relationships/image"/><Relationship Id="rId4" Target="../media/image7.jpeg" Type="http://schemas.openxmlformats.org/officeDocument/2006/relationships/image"/><Relationship Id="rId5" Target="../media/image8.jpeg" Type="http://schemas.openxmlformats.org/officeDocument/2006/relationships/image"/><Relationship Id="rId6" Target="../media/image9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png" Type="http://schemas.openxmlformats.org/officeDocument/2006/relationships/image"/><Relationship Id="rId4" Target="../media/image15.png" Type="http://schemas.openxmlformats.org/officeDocument/2006/relationships/image"/><Relationship Id="rId5" Target="../media/image16.png" Type="http://schemas.openxmlformats.org/officeDocument/2006/relationships/image"/><Relationship Id="rId6" Target="../media/image17.png" Type="http://schemas.openxmlformats.org/officeDocument/2006/relationships/image"/><Relationship Id="rId7" Target="../media/image18.png" Type="http://schemas.openxmlformats.org/officeDocument/2006/relationships/image"/><Relationship Id="rId8" Target="../media/image19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jpeg" Type="http://schemas.openxmlformats.org/officeDocument/2006/relationships/image"/><Relationship Id="rId3" Target="../media/image21.jpeg" Type="http://schemas.openxmlformats.org/officeDocument/2006/relationships/image"/><Relationship Id="rId4" Target="../media/image2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4F0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BFA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839335" y="4845263"/>
            <a:ext cx="16303523" cy="7941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90"/>
              </a:lnSpc>
            </a:pPr>
            <a:r>
              <a:rPr lang="en-US" sz="4800">
                <a:solidFill>
                  <a:srgbClr val="403CC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SMART PLACEMENT PREPARATION PORTAL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561812" y="5845664"/>
            <a:ext cx="16303523" cy="6392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7"/>
              </a:lnSpc>
            </a:pPr>
            <a:r>
              <a:rPr lang="en-US" sz="3900" b="true">
                <a:solidFill>
                  <a:srgbClr val="403CCF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Project Team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856664" y="6938486"/>
            <a:ext cx="5847617" cy="25799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8470" indent="-229235" lvl="1">
              <a:lnSpc>
                <a:spcPts val="3032"/>
              </a:lnSpc>
              <a:buAutoNum type="arabicPeriod" startAt="1"/>
            </a:pPr>
            <a:r>
              <a:rPr lang="en-US" sz="190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Tirumanadham Murali krishna</a:t>
            </a:r>
          </a:p>
          <a:p>
            <a:pPr algn="l" marL="458470" indent="-229235" lvl="1">
              <a:lnSpc>
                <a:spcPts val="3032"/>
              </a:lnSpc>
              <a:buAutoNum type="arabicPeriod" startAt="1"/>
            </a:pPr>
            <a:r>
              <a:rPr lang="en-US" sz="190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Prasad Kapileswarapu</a:t>
            </a:r>
          </a:p>
          <a:p>
            <a:pPr algn="l" marL="458470" indent="-229235" lvl="1">
              <a:lnSpc>
                <a:spcPts val="3032"/>
              </a:lnSpc>
              <a:buAutoNum type="arabicPeriod" startAt="1"/>
            </a:pPr>
            <a:r>
              <a:rPr lang="en-US" sz="190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Uddisapu Ram Charan</a:t>
            </a:r>
          </a:p>
          <a:p>
            <a:pPr algn="l" marL="458470" indent="-229235" lvl="1">
              <a:lnSpc>
                <a:spcPts val="3032"/>
              </a:lnSpc>
              <a:buAutoNum type="arabicPeriod" startAt="1"/>
            </a:pPr>
            <a:r>
              <a:rPr lang="en-US" sz="190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Sunkara Ambika Naga Srivalli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982582" y="6938486"/>
            <a:ext cx="9201750" cy="17134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2"/>
              </a:lnSpc>
            </a:pPr>
            <a:r>
              <a:rPr lang="en-US" sz="190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5.Kurasala Sri Naga Lakshmi Parvathi</a:t>
            </a:r>
          </a:p>
          <a:p>
            <a:pPr algn="l">
              <a:lnSpc>
                <a:spcPts val="3032"/>
              </a:lnSpc>
            </a:pPr>
            <a:r>
              <a:rPr lang="en-US" sz="190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6.Purnima sai Lakshmi Chavvakula</a:t>
            </a:r>
          </a:p>
          <a:p>
            <a:pPr algn="l">
              <a:lnSpc>
                <a:spcPts val="3032"/>
              </a:lnSpc>
            </a:pPr>
            <a:r>
              <a:rPr lang="en-US" sz="190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7.Devaguptapu Pavani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0" y="-88754"/>
            <a:ext cx="18303802" cy="4511040"/>
            <a:chOff x="0" y="0"/>
            <a:chExt cx="24405069" cy="60147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4405082" cy="6014720"/>
            </a:xfrm>
            <a:custGeom>
              <a:avLst/>
              <a:gdLst/>
              <a:ahLst/>
              <a:cxnLst/>
              <a:rect r="r" b="b" t="t" l="l"/>
              <a:pathLst>
                <a:path h="6014720" w="24405082">
                  <a:moveTo>
                    <a:pt x="0" y="0"/>
                  </a:moveTo>
                  <a:lnTo>
                    <a:pt x="24405082" y="0"/>
                  </a:lnTo>
                  <a:lnTo>
                    <a:pt x="24405082" y="6014720"/>
                  </a:lnTo>
                  <a:lnTo>
                    <a:pt x="0" y="60147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5064" r="0" b="-25064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4F0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BFA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1540516"/>
            <a:ext cx="16303523" cy="757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40"/>
              </a:lnSpc>
            </a:pPr>
            <a:r>
              <a:rPr lang="en-US" sz="4600">
                <a:solidFill>
                  <a:srgbClr val="403CC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Why Do Students Struggle in Placements?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238" y="2579341"/>
            <a:ext cx="16303523" cy="7959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Despite access to countless resources, most students fail to crack placements due to </a:t>
            </a:r>
            <a:r>
              <a:rPr lang="en-US" sz="1800" b="true">
                <a:solidFill>
                  <a:srgbClr val="49495A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fragmented preparation</a:t>
            </a:r>
            <a:r>
              <a:rPr lang="en-US" sz="180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, lack of structured guidance, and no unified platform to track progress.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92238" y="3628730"/>
            <a:ext cx="5284289" cy="3020016"/>
            <a:chOff x="0" y="0"/>
            <a:chExt cx="7045719" cy="402668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045706" cy="4026662"/>
            </a:xfrm>
            <a:custGeom>
              <a:avLst/>
              <a:gdLst/>
              <a:ahLst/>
              <a:cxnLst/>
              <a:rect r="r" b="b" t="t" l="l"/>
              <a:pathLst>
                <a:path h="4026662" w="7045706">
                  <a:moveTo>
                    <a:pt x="0" y="47244"/>
                  </a:moveTo>
                  <a:cubicBezTo>
                    <a:pt x="0" y="21209"/>
                    <a:pt x="21209" y="0"/>
                    <a:pt x="47244" y="0"/>
                  </a:cubicBezTo>
                  <a:lnTo>
                    <a:pt x="6998462" y="0"/>
                  </a:lnTo>
                  <a:cubicBezTo>
                    <a:pt x="7024624" y="0"/>
                    <a:pt x="7045706" y="21209"/>
                    <a:pt x="7045706" y="47244"/>
                  </a:cubicBezTo>
                  <a:lnTo>
                    <a:pt x="7045706" y="3979418"/>
                  </a:lnTo>
                  <a:cubicBezTo>
                    <a:pt x="7045706" y="4005580"/>
                    <a:pt x="7024497" y="4026662"/>
                    <a:pt x="6998462" y="4026662"/>
                  </a:cubicBezTo>
                  <a:lnTo>
                    <a:pt x="47244" y="4026662"/>
                  </a:lnTo>
                  <a:cubicBezTo>
                    <a:pt x="21082" y="4026662"/>
                    <a:pt x="0" y="4005453"/>
                    <a:pt x="0" y="3979418"/>
                  </a:cubicBezTo>
                  <a:close/>
                </a:path>
              </a:pathLst>
            </a:custGeom>
            <a:solidFill>
              <a:srgbClr val="EAE8F3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228573" y="3865064"/>
            <a:ext cx="709317" cy="709317"/>
            <a:chOff x="0" y="0"/>
            <a:chExt cx="945756" cy="94575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45769" cy="945769"/>
            </a:xfrm>
            <a:custGeom>
              <a:avLst/>
              <a:gdLst/>
              <a:ahLst/>
              <a:cxnLst/>
              <a:rect r="r" b="b" t="t" l="l"/>
              <a:pathLst>
                <a:path h="945769" w="945769">
                  <a:moveTo>
                    <a:pt x="0" y="472821"/>
                  </a:moveTo>
                  <a:cubicBezTo>
                    <a:pt x="0" y="211709"/>
                    <a:pt x="211709" y="0"/>
                    <a:pt x="472821" y="0"/>
                  </a:cubicBezTo>
                  <a:cubicBezTo>
                    <a:pt x="733933" y="0"/>
                    <a:pt x="945769" y="211709"/>
                    <a:pt x="945769" y="472821"/>
                  </a:cubicBezTo>
                  <a:cubicBezTo>
                    <a:pt x="945769" y="733933"/>
                    <a:pt x="734060" y="945769"/>
                    <a:pt x="472821" y="945769"/>
                  </a:cubicBezTo>
                  <a:cubicBezTo>
                    <a:pt x="211582" y="945769"/>
                    <a:pt x="0" y="734060"/>
                    <a:pt x="0" y="472821"/>
                  </a:cubicBezTo>
                  <a:close/>
                </a:path>
              </a:pathLst>
            </a:custGeom>
            <a:solidFill>
              <a:srgbClr val="5955EB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228573" y="4799705"/>
            <a:ext cx="4811611" cy="3693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0"/>
              </a:lnSpc>
            </a:pPr>
            <a:r>
              <a:rPr lang="en-US" sz="2300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Too Many Platforms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28573" y="5247084"/>
            <a:ext cx="4811611" cy="11653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Students juggle 5+ websites for aptitude, coding, resumes, and interview prep — losing focus and momentum.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6501851" y="3628730"/>
            <a:ext cx="5284289" cy="3020016"/>
            <a:chOff x="0" y="0"/>
            <a:chExt cx="7045719" cy="402668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045706" cy="4026662"/>
            </a:xfrm>
            <a:custGeom>
              <a:avLst/>
              <a:gdLst/>
              <a:ahLst/>
              <a:cxnLst/>
              <a:rect r="r" b="b" t="t" l="l"/>
              <a:pathLst>
                <a:path h="4026662" w="7045706">
                  <a:moveTo>
                    <a:pt x="0" y="47244"/>
                  </a:moveTo>
                  <a:cubicBezTo>
                    <a:pt x="0" y="21209"/>
                    <a:pt x="21209" y="0"/>
                    <a:pt x="47244" y="0"/>
                  </a:cubicBezTo>
                  <a:lnTo>
                    <a:pt x="6998462" y="0"/>
                  </a:lnTo>
                  <a:cubicBezTo>
                    <a:pt x="7024624" y="0"/>
                    <a:pt x="7045706" y="21209"/>
                    <a:pt x="7045706" y="47244"/>
                  </a:cubicBezTo>
                  <a:lnTo>
                    <a:pt x="7045706" y="3979418"/>
                  </a:lnTo>
                  <a:cubicBezTo>
                    <a:pt x="7045706" y="4005580"/>
                    <a:pt x="7024497" y="4026662"/>
                    <a:pt x="6998462" y="4026662"/>
                  </a:cubicBezTo>
                  <a:lnTo>
                    <a:pt x="47244" y="4026662"/>
                  </a:lnTo>
                  <a:cubicBezTo>
                    <a:pt x="21082" y="4026662"/>
                    <a:pt x="0" y="4005453"/>
                    <a:pt x="0" y="3979418"/>
                  </a:cubicBezTo>
                  <a:close/>
                </a:path>
              </a:pathLst>
            </a:custGeom>
            <a:solidFill>
              <a:srgbClr val="EAE8F3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6738195" y="3865064"/>
            <a:ext cx="709317" cy="709317"/>
            <a:chOff x="0" y="0"/>
            <a:chExt cx="945756" cy="94575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945769" cy="945769"/>
            </a:xfrm>
            <a:custGeom>
              <a:avLst/>
              <a:gdLst/>
              <a:ahLst/>
              <a:cxnLst/>
              <a:rect r="r" b="b" t="t" l="l"/>
              <a:pathLst>
                <a:path h="945769" w="945769">
                  <a:moveTo>
                    <a:pt x="0" y="472821"/>
                  </a:moveTo>
                  <a:cubicBezTo>
                    <a:pt x="0" y="211709"/>
                    <a:pt x="211709" y="0"/>
                    <a:pt x="472821" y="0"/>
                  </a:cubicBezTo>
                  <a:cubicBezTo>
                    <a:pt x="733933" y="0"/>
                    <a:pt x="945769" y="211709"/>
                    <a:pt x="945769" y="472821"/>
                  </a:cubicBezTo>
                  <a:cubicBezTo>
                    <a:pt x="945769" y="733933"/>
                    <a:pt x="734060" y="945769"/>
                    <a:pt x="472821" y="945769"/>
                  </a:cubicBezTo>
                  <a:cubicBezTo>
                    <a:pt x="211582" y="945769"/>
                    <a:pt x="0" y="734060"/>
                    <a:pt x="0" y="472821"/>
                  </a:cubicBezTo>
                  <a:close/>
                </a:path>
              </a:pathLst>
            </a:custGeom>
            <a:solidFill>
              <a:srgbClr val="5955EB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6933305" y="4060031"/>
            <a:ext cx="319088" cy="319088"/>
            <a:chOff x="0" y="0"/>
            <a:chExt cx="425450" cy="425450"/>
          </a:xfrm>
        </p:grpSpPr>
        <p:sp>
          <p:nvSpPr>
            <p:cNvPr name="Freeform 19" id="19" descr="preencoded.png"/>
            <p:cNvSpPr/>
            <p:nvPr/>
          </p:nvSpPr>
          <p:spPr>
            <a:xfrm flipH="false" flipV="false" rot="0">
              <a:off x="0" y="0"/>
              <a:ext cx="425450" cy="425450"/>
            </a:xfrm>
            <a:custGeom>
              <a:avLst/>
              <a:gdLst/>
              <a:ahLst/>
              <a:cxnLst/>
              <a:rect r="r" b="b" t="t" l="l"/>
              <a:pathLst>
                <a:path h="425450" w="425450">
                  <a:moveTo>
                    <a:pt x="0" y="0"/>
                  </a:moveTo>
                  <a:lnTo>
                    <a:pt x="425450" y="0"/>
                  </a:lnTo>
                  <a:lnTo>
                    <a:pt x="425450" y="425450"/>
                  </a:lnTo>
                  <a:lnTo>
                    <a:pt x="0" y="4254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6738195" y="4799705"/>
            <a:ext cx="4811611" cy="3693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0"/>
              </a:lnSpc>
            </a:pPr>
            <a:r>
              <a:rPr lang="en-US" sz="2300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Unorganised Preparation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738195" y="5247084"/>
            <a:ext cx="4811611" cy="11653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No structured roadmap means students study randomly, missing critical topics and company-specific patterns.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12011473" y="3628730"/>
            <a:ext cx="5284289" cy="3020016"/>
            <a:chOff x="0" y="0"/>
            <a:chExt cx="7045719" cy="4026687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7045706" cy="4026662"/>
            </a:xfrm>
            <a:custGeom>
              <a:avLst/>
              <a:gdLst/>
              <a:ahLst/>
              <a:cxnLst/>
              <a:rect r="r" b="b" t="t" l="l"/>
              <a:pathLst>
                <a:path h="4026662" w="7045706">
                  <a:moveTo>
                    <a:pt x="0" y="47244"/>
                  </a:moveTo>
                  <a:cubicBezTo>
                    <a:pt x="0" y="21209"/>
                    <a:pt x="21209" y="0"/>
                    <a:pt x="47244" y="0"/>
                  </a:cubicBezTo>
                  <a:lnTo>
                    <a:pt x="6998462" y="0"/>
                  </a:lnTo>
                  <a:cubicBezTo>
                    <a:pt x="7024624" y="0"/>
                    <a:pt x="7045706" y="21209"/>
                    <a:pt x="7045706" y="47244"/>
                  </a:cubicBezTo>
                  <a:lnTo>
                    <a:pt x="7045706" y="3979418"/>
                  </a:lnTo>
                  <a:cubicBezTo>
                    <a:pt x="7045706" y="4005580"/>
                    <a:pt x="7024497" y="4026662"/>
                    <a:pt x="6998462" y="4026662"/>
                  </a:cubicBezTo>
                  <a:lnTo>
                    <a:pt x="47244" y="4026662"/>
                  </a:lnTo>
                  <a:cubicBezTo>
                    <a:pt x="21082" y="4026662"/>
                    <a:pt x="0" y="4005453"/>
                    <a:pt x="0" y="3979418"/>
                  </a:cubicBezTo>
                  <a:close/>
                </a:path>
              </a:pathLst>
            </a:custGeom>
            <a:solidFill>
              <a:srgbClr val="EAE8F3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2247807" y="3865064"/>
            <a:ext cx="709317" cy="709317"/>
            <a:chOff x="0" y="0"/>
            <a:chExt cx="945756" cy="945756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945769" cy="945769"/>
            </a:xfrm>
            <a:custGeom>
              <a:avLst/>
              <a:gdLst/>
              <a:ahLst/>
              <a:cxnLst/>
              <a:rect r="r" b="b" t="t" l="l"/>
              <a:pathLst>
                <a:path h="945769" w="945769">
                  <a:moveTo>
                    <a:pt x="0" y="472821"/>
                  </a:moveTo>
                  <a:cubicBezTo>
                    <a:pt x="0" y="211709"/>
                    <a:pt x="211709" y="0"/>
                    <a:pt x="472821" y="0"/>
                  </a:cubicBezTo>
                  <a:cubicBezTo>
                    <a:pt x="733933" y="0"/>
                    <a:pt x="945769" y="211709"/>
                    <a:pt x="945769" y="472821"/>
                  </a:cubicBezTo>
                  <a:cubicBezTo>
                    <a:pt x="945769" y="733933"/>
                    <a:pt x="734060" y="945769"/>
                    <a:pt x="472821" y="945769"/>
                  </a:cubicBezTo>
                  <a:cubicBezTo>
                    <a:pt x="211582" y="945769"/>
                    <a:pt x="0" y="734060"/>
                    <a:pt x="0" y="472821"/>
                  </a:cubicBezTo>
                  <a:close/>
                </a:path>
              </a:pathLst>
            </a:custGeom>
            <a:solidFill>
              <a:srgbClr val="5955EB"/>
            </a:solid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12247807" y="4799705"/>
            <a:ext cx="4811611" cy="3693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0"/>
              </a:lnSpc>
            </a:pPr>
            <a:r>
              <a:rPr lang="en-US" sz="2300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No Interview Practice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2247807" y="5247084"/>
            <a:ext cx="4811611" cy="11653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Real interview simulation is rare. Students enter actual interviews without adequate mock exposure.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992238" y="6874078"/>
            <a:ext cx="8039100" cy="2650627"/>
            <a:chOff x="0" y="0"/>
            <a:chExt cx="10718800" cy="3534169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0718800" cy="3534156"/>
            </a:xfrm>
            <a:custGeom>
              <a:avLst/>
              <a:gdLst/>
              <a:ahLst/>
              <a:cxnLst/>
              <a:rect r="r" b="b" t="t" l="l"/>
              <a:pathLst>
                <a:path h="3534156" w="10718800">
                  <a:moveTo>
                    <a:pt x="0" y="47244"/>
                  </a:moveTo>
                  <a:cubicBezTo>
                    <a:pt x="0" y="21209"/>
                    <a:pt x="21209" y="0"/>
                    <a:pt x="47244" y="0"/>
                  </a:cubicBezTo>
                  <a:lnTo>
                    <a:pt x="10671556" y="0"/>
                  </a:lnTo>
                  <a:cubicBezTo>
                    <a:pt x="10697591" y="0"/>
                    <a:pt x="10718800" y="21209"/>
                    <a:pt x="10718800" y="47244"/>
                  </a:cubicBezTo>
                  <a:lnTo>
                    <a:pt x="10718800" y="3486912"/>
                  </a:lnTo>
                  <a:cubicBezTo>
                    <a:pt x="10718800" y="3513074"/>
                    <a:pt x="10697591" y="3534156"/>
                    <a:pt x="10671556" y="3534156"/>
                  </a:cubicBezTo>
                  <a:lnTo>
                    <a:pt x="47244" y="3534156"/>
                  </a:lnTo>
                  <a:cubicBezTo>
                    <a:pt x="21082" y="3534156"/>
                    <a:pt x="0" y="3512947"/>
                    <a:pt x="0" y="3486912"/>
                  </a:cubicBezTo>
                  <a:close/>
                </a:path>
              </a:pathLst>
            </a:custGeom>
            <a:solidFill>
              <a:srgbClr val="EAE8F3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1228573" y="7110412"/>
            <a:ext cx="709317" cy="709317"/>
            <a:chOff x="0" y="0"/>
            <a:chExt cx="945756" cy="945756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945769" cy="945769"/>
            </a:xfrm>
            <a:custGeom>
              <a:avLst/>
              <a:gdLst/>
              <a:ahLst/>
              <a:cxnLst/>
              <a:rect r="r" b="b" t="t" l="l"/>
              <a:pathLst>
                <a:path h="945769" w="945769">
                  <a:moveTo>
                    <a:pt x="0" y="472821"/>
                  </a:moveTo>
                  <a:cubicBezTo>
                    <a:pt x="0" y="211709"/>
                    <a:pt x="211709" y="0"/>
                    <a:pt x="472821" y="0"/>
                  </a:cubicBezTo>
                  <a:cubicBezTo>
                    <a:pt x="733933" y="0"/>
                    <a:pt x="945769" y="211709"/>
                    <a:pt x="945769" y="472821"/>
                  </a:cubicBezTo>
                  <a:cubicBezTo>
                    <a:pt x="945769" y="733933"/>
                    <a:pt x="734060" y="945769"/>
                    <a:pt x="472821" y="945769"/>
                  </a:cubicBezTo>
                  <a:cubicBezTo>
                    <a:pt x="211582" y="945769"/>
                    <a:pt x="0" y="734060"/>
                    <a:pt x="0" y="472821"/>
                  </a:cubicBezTo>
                  <a:close/>
                </a:path>
              </a:pathLst>
            </a:custGeom>
            <a:solidFill>
              <a:srgbClr val="5955EB"/>
            </a:solidFill>
          </p:spPr>
        </p:sp>
      </p:grpSp>
      <p:sp>
        <p:nvSpPr>
          <p:cNvPr name="TextBox 32" id="32"/>
          <p:cNvSpPr txBox="true"/>
          <p:nvPr/>
        </p:nvSpPr>
        <p:spPr>
          <a:xfrm rot="0">
            <a:off x="1228573" y="8045053"/>
            <a:ext cx="7566422" cy="3693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0"/>
              </a:lnSpc>
            </a:pPr>
            <a:r>
              <a:rPr lang="en-US" sz="2300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Resume Building Gap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228573" y="8492433"/>
            <a:ext cx="7566422" cy="7959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Most students lack guidance on crafting ATS-friendly, recruiter-ready resumes that stand out.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9256662" y="6874078"/>
            <a:ext cx="8039100" cy="2650627"/>
            <a:chOff x="0" y="0"/>
            <a:chExt cx="10718800" cy="3534169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0718800" cy="3534156"/>
            </a:xfrm>
            <a:custGeom>
              <a:avLst/>
              <a:gdLst/>
              <a:ahLst/>
              <a:cxnLst/>
              <a:rect r="r" b="b" t="t" l="l"/>
              <a:pathLst>
                <a:path h="3534156" w="10718800">
                  <a:moveTo>
                    <a:pt x="0" y="47244"/>
                  </a:moveTo>
                  <a:cubicBezTo>
                    <a:pt x="0" y="21209"/>
                    <a:pt x="21209" y="0"/>
                    <a:pt x="47244" y="0"/>
                  </a:cubicBezTo>
                  <a:lnTo>
                    <a:pt x="10671556" y="0"/>
                  </a:lnTo>
                  <a:cubicBezTo>
                    <a:pt x="10697591" y="0"/>
                    <a:pt x="10718800" y="21209"/>
                    <a:pt x="10718800" y="47244"/>
                  </a:cubicBezTo>
                  <a:lnTo>
                    <a:pt x="10718800" y="3486912"/>
                  </a:lnTo>
                  <a:cubicBezTo>
                    <a:pt x="10718800" y="3513074"/>
                    <a:pt x="10697591" y="3534156"/>
                    <a:pt x="10671556" y="3534156"/>
                  </a:cubicBezTo>
                  <a:lnTo>
                    <a:pt x="47244" y="3534156"/>
                  </a:lnTo>
                  <a:cubicBezTo>
                    <a:pt x="21082" y="3534156"/>
                    <a:pt x="0" y="3512947"/>
                    <a:pt x="0" y="3486912"/>
                  </a:cubicBezTo>
                  <a:close/>
                </a:path>
              </a:pathLst>
            </a:custGeom>
            <a:solidFill>
              <a:srgbClr val="EAE8F3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9493006" y="7110412"/>
            <a:ext cx="709317" cy="709317"/>
            <a:chOff x="0" y="0"/>
            <a:chExt cx="945756" cy="945756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945769" cy="945769"/>
            </a:xfrm>
            <a:custGeom>
              <a:avLst/>
              <a:gdLst/>
              <a:ahLst/>
              <a:cxnLst/>
              <a:rect r="r" b="b" t="t" l="l"/>
              <a:pathLst>
                <a:path h="945769" w="945769">
                  <a:moveTo>
                    <a:pt x="0" y="472821"/>
                  </a:moveTo>
                  <a:cubicBezTo>
                    <a:pt x="0" y="211709"/>
                    <a:pt x="211709" y="0"/>
                    <a:pt x="472821" y="0"/>
                  </a:cubicBezTo>
                  <a:cubicBezTo>
                    <a:pt x="733933" y="0"/>
                    <a:pt x="945769" y="211709"/>
                    <a:pt x="945769" y="472821"/>
                  </a:cubicBezTo>
                  <a:cubicBezTo>
                    <a:pt x="945769" y="733933"/>
                    <a:pt x="734060" y="945769"/>
                    <a:pt x="472821" y="945769"/>
                  </a:cubicBezTo>
                  <a:cubicBezTo>
                    <a:pt x="211582" y="945769"/>
                    <a:pt x="0" y="734060"/>
                    <a:pt x="0" y="472821"/>
                  </a:cubicBezTo>
                  <a:close/>
                </a:path>
              </a:pathLst>
            </a:custGeom>
            <a:solidFill>
              <a:srgbClr val="5955EB"/>
            </a:solidFill>
          </p:spPr>
        </p:sp>
      </p:grpSp>
      <p:sp>
        <p:nvSpPr>
          <p:cNvPr name="TextBox 38" id="38"/>
          <p:cNvSpPr txBox="true"/>
          <p:nvPr/>
        </p:nvSpPr>
        <p:spPr>
          <a:xfrm rot="0">
            <a:off x="9493006" y="8045053"/>
            <a:ext cx="7566422" cy="3693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0"/>
              </a:lnSpc>
            </a:pPr>
            <a:r>
              <a:rPr lang="en-US" sz="2300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No Centralised Platform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9493006" y="8492433"/>
            <a:ext cx="7566422" cy="7959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There is no single destination combining learning, practice, assessment, and placement updates.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4F0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BFA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682228"/>
            <a:ext cx="16303523" cy="3876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5"/>
              </a:lnSpc>
            </a:pPr>
            <a:r>
              <a:rPr lang="en-US" sz="2400">
                <a:solidFill>
                  <a:srgbClr val="403CC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Our Solution: One Platform. Everything You Need.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238" y="1193902"/>
            <a:ext cx="17217923" cy="1486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80"/>
              </a:lnSpc>
            </a:pPr>
            <a:r>
              <a:rPr lang="en-US" sz="90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The </a:t>
            </a:r>
            <a:r>
              <a:rPr lang="en-US" sz="900" b="true">
                <a:solidFill>
                  <a:srgbClr val="49495A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Smart Placement Preparation Portal</a:t>
            </a:r>
            <a:r>
              <a:rPr lang="en-US" sz="90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 is a unified, cloud-hosted ecosystem that eliminates preparation fragmentation. Every module — from aptitude to AI resources — is seamlessly connected through a single intelligent dashboard.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92238" y="1412234"/>
            <a:ext cx="14630400" cy="8229600"/>
            <a:chOff x="0" y="0"/>
            <a:chExt cx="19507200" cy="10972800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19507200" cy="10972800"/>
            </a:xfrm>
            <a:custGeom>
              <a:avLst/>
              <a:gdLst/>
              <a:ahLst/>
              <a:cxnLst/>
              <a:rect r="r" b="b" t="t" l="l"/>
              <a:pathLst>
                <a:path h="10972800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10972800"/>
                  </a:lnTo>
                  <a:lnTo>
                    <a:pt x="0" y="10972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92238" y="9711480"/>
            <a:ext cx="16303523" cy="338290"/>
            <a:chOff x="0" y="0"/>
            <a:chExt cx="21738031" cy="45105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737954" cy="450978"/>
            </a:xfrm>
            <a:custGeom>
              <a:avLst/>
              <a:gdLst/>
              <a:ahLst/>
              <a:cxnLst/>
              <a:rect r="r" b="b" t="t" l="l"/>
              <a:pathLst>
                <a:path h="450978" w="21737954">
                  <a:moveTo>
                    <a:pt x="0" y="24765"/>
                  </a:moveTo>
                  <a:cubicBezTo>
                    <a:pt x="0" y="11049"/>
                    <a:pt x="11049" y="0"/>
                    <a:pt x="24765" y="0"/>
                  </a:cubicBezTo>
                  <a:lnTo>
                    <a:pt x="21713189" y="0"/>
                  </a:lnTo>
                  <a:cubicBezTo>
                    <a:pt x="21726905" y="0"/>
                    <a:pt x="21737954" y="11049"/>
                    <a:pt x="21737954" y="24765"/>
                  </a:cubicBezTo>
                  <a:lnTo>
                    <a:pt x="21737954" y="426212"/>
                  </a:lnTo>
                  <a:cubicBezTo>
                    <a:pt x="21737954" y="439928"/>
                    <a:pt x="21726905" y="450977"/>
                    <a:pt x="21713189" y="450977"/>
                  </a:cubicBezTo>
                  <a:lnTo>
                    <a:pt x="24765" y="450977"/>
                  </a:lnTo>
                  <a:cubicBezTo>
                    <a:pt x="11049" y="451104"/>
                    <a:pt x="0" y="439928"/>
                    <a:pt x="0" y="426212"/>
                  </a:cubicBezTo>
                  <a:close/>
                </a:path>
              </a:pathLst>
            </a:custGeom>
            <a:solidFill>
              <a:srgbClr val="D7D6F5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116206" y="9866414"/>
            <a:ext cx="154934" cy="123977"/>
            <a:chOff x="0" y="0"/>
            <a:chExt cx="206578" cy="165303"/>
          </a:xfrm>
        </p:grpSpPr>
        <p:sp>
          <p:nvSpPr>
            <p:cNvPr name="Freeform 13" id="13" descr="preencoded.png"/>
            <p:cNvSpPr/>
            <p:nvPr/>
          </p:nvSpPr>
          <p:spPr>
            <a:xfrm flipH="false" flipV="false" rot="0">
              <a:off x="0" y="0"/>
              <a:ext cx="206629" cy="165354"/>
            </a:xfrm>
            <a:custGeom>
              <a:avLst/>
              <a:gdLst/>
              <a:ahLst/>
              <a:cxnLst/>
              <a:rect r="r" b="b" t="t" l="l"/>
              <a:pathLst>
                <a:path h="165354" w="206629">
                  <a:moveTo>
                    <a:pt x="0" y="0"/>
                  </a:moveTo>
                  <a:lnTo>
                    <a:pt x="206629" y="0"/>
                  </a:lnTo>
                  <a:lnTo>
                    <a:pt x="206629" y="165354"/>
                  </a:lnTo>
                  <a:lnTo>
                    <a:pt x="0" y="1653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459" r="24" b="-1420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395117" y="9804349"/>
            <a:ext cx="16691077" cy="1486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80"/>
              </a:lnSpc>
            </a:pPr>
            <a:r>
              <a:rPr lang="en-US" sz="9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"Everything required for placements — in one intelligent, cloud-powered platform."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4F0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BFA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830761"/>
            <a:ext cx="16303523" cy="7096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66"/>
              </a:lnSpc>
            </a:pPr>
            <a:r>
              <a:rPr lang="en-US" sz="4300">
                <a:solidFill>
                  <a:srgbClr val="403CC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Key Features at a Glance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238" y="1886245"/>
            <a:ext cx="17217923" cy="381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70"/>
              </a:lnSpc>
            </a:pPr>
            <a:r>
              <a:rPr lang="en-US" sz="170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Every feature is designed with student success in mind — from structured learning paths to real-time placement tracking. Here is what sets our platform apart.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92238" y="2489444"/>
            <a:ext cx="1712119" cy="1058170"/>
            <a:chOff x="0" y="0"/>
            <a:chExt cx="2282825" cy="1410894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2282825" cy="1410843"/>
            </a:xfrm>
            <a:custGeom>
              <a:avLst/>
              <a:gdLst/>
              <a:ahLst/>
              <a:cxnLst/>
              <a:rect r="r" b="b" t="t" l="l"/>
              <a:pathLst>
                <a:path h="1410843" w="2282825">
                  <a:moveTo>
                    <a:pt x="0" y="0"/>
                  </a:moveTo>
                  <a:lnTo>
                    <a:pt x="2282825" y="0"/>
                  </a:lnTo>
                  <a:lnTo>
                    <a:pt x="2282825" y="1410843"/>
                  </a:lnTo>
                  <a:lnTo>
                    <a:pt x="0" y="14108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37" r="0" b="-341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992238" y="3783959"/>
            <a:ext cx="3891410" cy="3548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0"/>
              </a:lnSpc>
            </a:pPr>
            <a:r>
              <a:rPr lang="en-US" sz="2100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Aptitude &amp; Reasoning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92238" y="4209155"/>
            <a:ext cx="3891410" cy="13846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70"/>
              </a:lnSpc>
            </a:pPr>
            <a:r>
              <a:rPr lang="en-US" sz="170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Thousands of curated questions across quantitative, logical, and verbal reasoning — with difficulty levels and timed practice modes.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5129508" y="2489444"/>
            <a:ext cx="1712271" cy="1058170"/>
            <a:chOff x="0" y="0"/>
            <a:chExt cx="2283028" cy="1410894"/>
          </a:xfrm>
        </p:grpSpPr>
        <p:sp>
          <p:nvSpPr>
            <p:cNvPr name="Freeform 13" id="13" descr="preencoded.png"/>
            <p:cNvSpPr/>
            <p:nvPr/>
          </p:nvSpPr>
          <p:spPr>
            <a:xfrm flipH="false" flipV="false" rot="0">
              <a:off x="0" y="0"/>
              <a:ext cx="2283079" cy="1410843"/>
            </a:xfrm>
            <a:custGeom>
              <a:avLst/>
              <a:gdLst/>
              <a:ahLst/>
              <a:cxnLst/>
              <a:rect r="r" b="b" t="t" l="l"/>
              <a:pathLst>
                <a:path h="1410843" w="2283079">
                  <a:moveTo>
                    <a:pt x="0" y="0"/>
                  </a:moveTo>
                  <a:lnTo>
                    <a:pt x="2283079" y="0"/>
                  </a:lnTo>
                  <a:lnTo>
                    <a:pt x="2283079" y="1410843"/>
                  </a:lnTo>
                  <a:lnTo>
                    <a:pt x="0" y="14108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342" r="2" b="-345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5129508" y="3783959"/>
            <a:ext cx="3891563" cy="3548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0"/>
              </a:lnSpc>
            </a:pPr>
            <a:r>
              <a:rPr lang="en-US" sz="2100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Coding &amp; DSA Practice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129508" y="4209155"/>
            <a:ext cx="3891563" cy="13846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70"/>
              </a:lnSpc>
            </a:pPr>
            <a:r>
              <a:rPr lang="en-US" sz="170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Structured problem sets covering Data Structures, Algorithms, and competitive programming with instant feedback.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9266930" y="2489444"/>
            <a:ext cx="1712119" cy="1058170"/>
            <a:chOff x="0" y="0"/>
            <a:chExt cx="2282825" cy="1410894"/>
          </a:xfrm>
        </p:grpSpPr>
        <p:sp>
          <p:nvSpPr>
            <p:cNvPr name="Freeform 17" id="17" descr="preencoded.png"/>
            <p:cNvSpPr/>
            <p:nvPr/>
          </p:nvSpPr>
          <p:spPr>
            <a:xfrm flipH="false" flipV="false" rot="0">
              <a:off x="0" y="0"/>
              <a:ext cx="2282825" cy="1410843"/>
            </a:xfrm>
            <a:custGeom>
              <a:avLst/>
              <a:gdLst/>
              <a:ahLst/>
              <a:cxnLst/>
              <a:rect r="r" b="b" t="t" l="l"/>
              <a:pathLst>
                <a:path h="1410843" w="2282825">
                  <a:moveTo>
                    <a:pt x="0" y="0"/>
                  </a:moveTo>
                  <a:lnTo>
                    <a:pt x="2282825" y="0"/>
                  </a:lnTo>
                  <a:lnTo>
                    <a:pt x="2282825" y="1410843"/>
                  </a:lnTo>
                  <a:lnTo>
                    <a:pt x="0" y="14108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337" r="0" b="-341"/>
              </a:stretch>
            </a:blip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9266930" y="3783959"/>
            <a:ext cx="3891410" cy="3548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0"/>
              </a:lnSpc>
            </a:pPr>
            <a:r>
              <a:rPr lang="en-US" sz="2100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AI Resume Builder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266930" y="4209155"/>
            <a:ext cx="3891410" cy="13846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70"/>
              </a:lnSpc>
            </a:pPr>
            <a:r>
              <a:rPr lang="en-US" sz="170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Generate ATS-optimised resumes with AI-powered suggestions, multiple templates, and real-time scoring.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3404209" y="2489444"/>
            <a:ext cx="1712271" cy="1058170"/>
            <a:chOff x="0" y="0"/>
            <a:chExt cx="2283028" cy="1410894"/>
          </a:xfrm>
        </p:grpSpPr>
        <p:sp>
          <p:nvSpPr>
            <p:cNvPr name="Freeform 21" id="21" descr="preencoded.png"/>
            <p:cNvSpPr/>
            <p:nvPr/>
          </p:nvSpPr>
          <p:spPr>
            <a:xfrm flipH="false" flipV="false" rot="0">
              <a:off x="0" y="0"/>
              <a:ext cx="2283079" cy="1410843"/>
            </a:xfrm>
            <a:custGeom>
              <a:avLst/>
              <a:gdLst/>
              <a:ahLst/>
              <a:cxnLst/>
              <a:rect r="r" b="b" t="t" l="l"/>
              <a:pathLst>
                <a:path h="1410843" w="2283079">
                  <a:moveTo>
                    <a:pt x="0" y="0"/>
                  </a:moveTo>
                  <a:lnTo>
                    <a:pt x="2283079" y="0"/>
                  </a:lnTo>
                  <a:lnTo>
                    <a:pt x="2283079" y="1410843"/>
                  </a:lnTo>
                  <a:lnTo>
                    <a:pt x="0" y="14108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342" r="2" b="-345"/>
              </a:stretch>
            </a:blip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13404209" y="3783959"/>
            <a:ext cx="3891563" cy="3548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0"/>
              </a:lnSpc>
            </a:pPr>
            <a:r>
              <a:rPr lang="en-US" sz="2100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Mock Interviews &amp; Tests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3404209" y="4209155"/>
            <a:ext cx="3891563" cy="13846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70"/>
              </a:lnSpc>
            </a:pPr>
            <a:r>
              <a:rPr lang="en-US" sz="170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Simulated interview rounds with timer, peer review, and performance analytics to build confidence before the real day.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992238" y="5987358"/>
            <a:ext cx="1712119" cy="1058170"/>
            <a:chOff x="0" y="0"/>
            <a:chExt cx="2282825" cy="1410894"/>
          </a:xfrm>
        </p:grpSpPr>
        <p:sp>
          <p:nvSpPr>
            <p:cNvPr name="Freeform 25" id="25" descr="preencoded.png"/>
            <p:cNvSpPr/>
            <p:nvPr/>
          </p:nvSpPr>
          <p:spPr>
            <a:xfrm flipH="false" flipV="false" rot="0">
              <a:off x="0" y="0"/>
              <a:ext cx="2282825" cy="1410843"/>
            </a:xfrm>
            <a:custGeom>
              <a:avLst/>
              <a:gdLst/>
              <a:ahLst/>
              <a:cxnLst/>
              <a:rect r="r" b="b" t="t" l="l"/>
              <a:pathLst>
                <a:path h="1410843" w="2282825">
                  <a:moveTo>
                    <a:pt x="0" y="0"/>
                  </a:moveTo>
                  <a:lnTo>
                    <a:pt x="2282825" y="0"/>
                  </a:lnTo>
                  <a:lnTo>
                    <a:pt x="2282825" y="1410843"/>
                  </a:lnTo>
                  <a:lnTo>
                    <a:pt x="0" y="14108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337" r="0" b="-341"/>
              </a:stretch>
            </a:blip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992238" y="7281863"/>
            <a:ext cx="3891410" cy="7000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0"/>
              </a:lnSpc>
            </a:pPr>
            <a:r>
              <a:rPr lang="en-US" sz="2100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Community &amp; Placement Updates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92238" y="8052349"/>
            <a:ext cx="3891410" cy="13846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70"/>
              </a:lnSpc>
            </a:pPr>
            <a:r>
              <a:rPr lang="en-US" sz="170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Live placement notifications, company eligibility criteria, and a peer discussion forum for collaborative learning.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4F0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BFA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940298"/>
            <a:ext cx="16303523" cy="7941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90"/>
              </a:lnSpc>
            </a:pPr>
            <a:r>
              <a:rPr lang="en-US" sz="4800">
                <a:solidFill>
                  <a:srgbClr val="403CC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Technology Stack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238" y="2154288"/>
            <a:ext cx="16303523" cy="8700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2"/>
              </a:lnSpc>
            </a:pPr>
            <a:r>
              <a:rPr lang="en-US" sz="190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Built with modern, industry-standard technologies chosen for performance, scalability, and developer experience — ensuring the platform is production-ready and future-proof.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813645" y="3303394"/>
            <a:ext cx="8206378" cy="6024115"/>
            <a:chOff x="0" y="0"/>
            <a:chExt cx="10941837" cy="803215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941812" cy="8032114"/>
            </a:xfrm>
            <a:custGeom>
              <a:avLst/>
              <a:gdLst/>
              <a:ahLst/>
              <a:cxnLst/>
              <a:rect r="r" b="b" t="t" l="l"/>
              <a:pathLst>
                <a:path h="8032114" w="10941812">
                  <a:moveTo>
                    <a:pt x="0" y="49657"/>
                  </a:moveTo>
                  <a:cubicBezTo>
                    <a:pt x="0" y="22225"/>
                    <a:pt x="22225" y="0"/>
                    <a:pt x="49657" y="0"/>
                  </a:cubicBezTo>
                  <a:lnTo>
                    <a:pt x="10892155" y="0"/>
                  </a:lnTo>
                  <a:cubicBezTo>
                    <a:pt x="10919587" y="0"/>
                    <a:pt x="10941812" y="22225"/>
                    <a:pt x="10941812" y="49657"/>
                  </a:cubicBezTo>
                  <a:lnTo>
                    <a:pt x="10941812" y="7982458"/>
                  </a:lnTo>
                  <a:cubicBezTo>
                    <a:pt x="10941812" y="8009889"/>
                    <a:pt x="10919587" y="8032114"/>
                    <a:pt x="10892155" y="8032114"/>
                  </a:cubicBezTo>
                  <a:lnTo>
                    <a:pt x="49657" y="8032114"/>
                  </a:lnTo>
                  <a:cubicBezTo>
                    <a:pt x="22225" y="8032114"/>
                    <a:pt x="0" y="8009889"/>
                    <a:pt x="0" y="7982458"/>
                  </a:cubicBezTo>
                  <a:close/>
                </a:path>
              </a:pathLst>
            </a:custGeom>
            <a:solidFill>
              <a:srgbClr val="403CCF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061590" y="3551339"/>
            <a:ext cx="7710488" cy="3876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5"/>
              </a:lnSpc>
            </a:pPr>
            <a:r>
              <a:rPr lang="en-US" sz="2400">
                <a:solidFill>
                  <a:srgbClr val="FFFFF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Frontend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867643" y="4141889"/>
            <a:ext cx="2894114" cy="12669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2"/>
              </a:lnSpc>
            </a:pPr>
            <a:r>
              <a:rPr lang="en-US" sz="19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React.js</a:t>
            </a:r>
            <a:r>
              <a:rPr lang="en-US" sz="19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— Component-based UI with fast rendering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877820" y="4141889"/>
            <a:ext cx="2894257" cy="8700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2"/>
              </a:lnSpc>
            </a:pPr>
            <a:r>
              <a:rPr lang="en-US" sz="19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Vite</a:t>
            </a:r>
            <a:r>
              <a:rPr lang="en-US" sz="19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— Lightning-fast build tool and dev server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867643" y="5828700"/>
            <a:ext cx="6904434" cy="473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2"/>
              </a:lnSpc>
            </a:pPr>
            <a:r>
              <a:rPr lang="en-US" sz="19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HTML5 / CSS3 / JavaScript</a:t>
            </a:r>
            <a:r>
              <a:rPr lang="en-US" sz="19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— Core web standards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61590" y="6940448"/>
            <a:ext cx="7710488" cy="3876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5"/>
              </a:lnSpc>
            </a:pPr>
            <a:r>
              <a:rPr lang="en-US" sz="2400">
                <a:solidFill>
                  <a:srgbClr val="FFFFF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Version Control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61590" y="7499899"/>
            <a:ext cx="7710488" cy="8700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2"/>
              </a:lnSpc>
            </a:pPr>
            <a:r>
              <a:rPr lang="en-US" sz="19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Git &amp; GitHub</a:t>
            </a:r>
            <a:r>
              <a:rPr lang="en-US" sz="19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— Collaborative development, CI/CD pipelines, and code review workflows.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456096" y="3551339"/>
            <a:ext cx="7849200" cy="3876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5"/>
              </a:lnSpc>
            </a:pPr>
            <a:r>
              <a:rPr lang="en-US" sz="2400">
                <a:solidFill>
                  <a:srgbClr val="403CC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Backend &amp; Database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846916" y="4418409"/>
            <a:ext cx="3133277" cy="16638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2"/>
              </a:lnSpc>
            </a:pPr>
            <a:r>
              <a:rPr lang="en-US" sz="1900" b="true">
                <a:solidFill>
                  <a:srgbClr val="49495A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Spring Boot</a:t>
            </a:r>
            <a:r>
              <a:rPr lang="en-US" sz="190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 — Enterprise-grade Java REST API framework with built-in security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895489" y="4418409"/>
            <a:ext cx="3133277" cy="16638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2"/>
              </a:lnSpc>
            </a:pPr>
            <a:r>
              <a:rPr lang="en-US" sz="1900" b="true">
                <a:solidFill>
                  <a:srgbClr val="49495A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PostgreSQL</a:t>
            </a:r>
            <a:r>
              <a:rPr lang="en-US" sz="190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 — Robust relational database with advanced query capabilities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456096" y="6637887"/>
            <a:ext cx="7849200" cy="3876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5"/>
              </a:lnSpc>
            </a:pPr>
            <a:r>
              <a:rPr lang="en-US" sz="2400">
                <a:solidFill>
                  <a:srgbClr val="403CC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Cloud &amp; Infrastructure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846916" y="7504957"/>
            <a:ext cx="3133277" cy="12669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2"/>
              </a:lnSpc>
            </a:pPr>
            <a:r>
              <a:rPr lang="en-US" sz="1900" b="true">
                <a:solidFill>
                  <a:srgbClr val="49495A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AWS EC2</a:t>
            </a:r>
            <a:r>
              <a:rPr lang="en-US" sz="190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 — Scalable virtual servers on Amazon Web Services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3895489" y="7504957"/>
            <a:ext cx="3133277" cy="12669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2"/>
              </a:lnSpc>
            </a:pPr>
            <a:r>
              <a:rPr lang="en-US" sz="1900" b="true">
                <a:solidFill>
                  <a:srgbClr val="49495A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Nginx</a:t>
            </a:r>
            <a:r>
              <a:rPr lang="en-US" sz="190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 — High-performance reverse proxy and load balancer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4F0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BFA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682228"/>
            <a:ext cx="16303523" cy="3876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5"/>
              </a:lnSpc>
            </a:pPr>
            <a:r>
              <a:rPr lang="en-US" sz="2400">
                <a:solidFill>
                  <a:srgbClr val="403CC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System Architecture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238" y="1193902"/>
            <a:ext cx="17217923" cy="1486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80"/>
              </a:lnSpc>
            </a:pPr>
            <a:r>
              <a:rPr lang="en-US" sz="90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A clean, layered architecture ensures separation of concerns, security, and high availability. Every request flows through a protected pipeline from the student's browser to the cloud-hosted database.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92238" y="1412234"/>
            <a:ext cx="16303523" cy="7461199"/>
            <a:chOff x="0" y="0"/>
            <a:chExt cx="21738031" cy="9948266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21738082" cy="9948291"/>
            </a:xfrm>
            <a:custGeom>
              <a:avLst/>
              <a:gdLst/>
              <a:ahLst/>
              <a:cxnLst/>
              <a:rect r="r" b="b" t="t" l="l"/>
              <a:pathLst>
                <a:path h="9948291" w="21738082">
                  <a:moveTo>
                    <a:pt x="0" y="0"/>
                  </a:moveTo>
                  <a:lnTo>
                    <a:pt x="21738082" y="0"/>
                  </a:lnTo>
                  <a:lnTo>
                    <a:pt x="21738082" y="9948291"/>
                  </a:lnTo>
                  <a:lnTo>
                    <a:pt x="0" y="99482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2" r="0" b="-32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2934617" y="2438533"/>
            <a:ext cx="3606489" cy="4603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4"/>
              </a:lnSpc>
            </a:pPr>
            <a:r>
              <a:rPr lang="en-US" sz="2799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API &amp; DB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934617" y="3084252"/>
            <a:ext cx="3975154" cy="4838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59"/>
              </a:lnSpc>
            </a:pPr>
            <a:r>
              <a:rPr lang="en-US" sz="220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Spring Boot API, VPC, Postgres encrypted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425902" y="5026190"/>
            <a:ext cx="3606498" cy="4603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494"/>
              </a:lnSpc>
            </a:pPr>
            <a:r>
              <a:rPr lang="en-US" sz="2799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Frontend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77820" y="5671909"/>
            <a:ext cx="3654581" cy="2133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059"/>
              </a:lnSpc>
            </a:pPr>
            <a:r>
              <a:rPr lang="en-US" sz="220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React on EC2 behind Nginx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934617" y="6157227"/>
            <a:ext cx="3606489" cy="4603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4"/>
              </a:lnSpc>
            </a:pPr>
            <a:r>
              <a:rPr lang="en-US" sz="2799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Student Client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934617" y="6802946"/>
            <a:ext cx="3975154" cy="4838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59"/>
              </a:lnSpc>
            </a:pPr>
            <a:r>
              <a:rPr lang="en-US" sz="220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Browser or mobile over HTTPS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92238" y="8943080"/>
            <a:ext cx="17217923" cy="1486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80"/>
              </a:lnSpc>
            </a:pPr>
            <a:r>
              <a:rPr lang="en-US" sz="90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The architecture leverages </a:t>
            </a:r>
            <a:r>
              <a:rPr lang="en-US" sz="900" b="true">
                <a:solidFill>
                  <a:srgbClr val="49495A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AWS VPC</a:t>
            </a:r>
            <a:r>
              <a:rPr lang="en-US" sz="90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 for network isolation, </a:t>
            </a:r>
            <a:r>
              <a:rPr lang="en-US" sz="900" b="true">
                <a:solidFill>
                  <a:srgbClr val="49495A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Security Groups</a:t>
            </a:r>
            <a:r>
              <a:rPr lang="en-US" sz="90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 as firewalls, and </a:t>
            </a:r>
            <a:r>
              <a:rPr lang="en-US" sz="900" b="true">
                <a:solidFill>
                  <a:srgbClr val="49495A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Nginx</a:t>
            </a:r>
            <a:r>
              <a:rPr lang="en-US" sz="90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 as a reverse proxy — ensuring every student interaction is fast, secure, and reliable.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992238" y="9161412"/>
            <a:ext cx="4029370" cy="637137"/>
            <a:chOff x="0" y="0"/>
            <a:chExt cx="5372494" cy="84951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372481" cy="849503"/>
            </a:xfrm>
            <a:custGeom>
              <a:avLst/>
              <a:gdLst/>
              <a:ahLst/>
              <a:cxnLst/>
              <a:rect r="r" b="b" t="t" l="l"/>
              <a:pathLst>
                <a:path h="849503" w="5372481">
                  <a:moveTo>
                    <a:pt x="0" y="24765"/>
                  </a:moveTo>
                  <a:cubicBezTo>
                    <a:pt x="0" y="11049"/>
                    <a:pt x="11049" y="0"/>
                    <a:pt x="24765" y="0"/>
                  </a:cubicBezTo>
                  <a:lnTo>
                    <a:pt x="5347716" y="0"/>
                  </a:lnTo>
                  <a:cubicBezTo>
                    <a:pt x="5361432" y="0"/>
                    <a:pt x="5372481" y="11049"/>
                    <a:pt x="5372481" y="24765"/>
                  </a:cubicBezTo>
                  <a:lnTo>
                    <a:pt x="5372481" y="824738"/>
                  </a:lnTo>
                  <a:cubicBezTo>
                    <a:pt x="5372481" y="838454"/>
                    <a:pt x="5361432" y="849503"/>
                    <a:pt x="5347716" y="849503"/>
                  </a:cubicBezTo>
                  <a:lnTo>
                    <a:pt x="24765" y="849503"/>
                  </a:lnTo>
                  <a:cubicBezTo>
                    <a:pt x="11049" y="849503"/>
                    <a:pt x="0" y="838454"/>
                    <a:pt x="0" y="824738"/>
                  </a:cubicBezTo>
                  <a:close/>
                </a:path>
              </a:pathLst>
            </a:custGeom>
            <a:solidFill>
              <a:srgbClr val="EAE8F3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1116206" y="9285389"/>
            <a:ext cx="3781425" cy="203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97"/>
              </a:lnSpc>
            </a:pPr>
            <a:r>
              <a:rPr lang="en-US" sz="120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🔒</a:t>
            </a:r>
            <a:r>
              <a:rPr lang="en-US" sz="1200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VPC Security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116206" y="9525895"/>
            <a:ext cx="3781425" cy="1486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80"/>
              </a:lnSpc>
            </a:pPr>
            <a:r>
              <a:rPr lang="en-US" sz="90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Isolated network environment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5083521" y="9161412"/>
            <a:ext cx="4029523" cy="637137"/>
            <a:chOff x="0" y="0"/>
            <a:chExt cx="5372697" cy="849516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372608" cy="849503"/>
            </a:xfrm>
            <a:custGeom>
              <a:avLst/>
              <a:gdLst/>
              <a:ahLst/>
              <a:cxnLst/>
              <a:rect r="r" b="b" t="t" l="l"/>
              <a:pathLst>
                <a:path h="849503" w="5372608">
                  <a:moveTo>
                    <a:pt x="0" y="24765"/>
                  </a:moveTo>
                  <a:cubicBezTo>
                    <a:pt x="0" y="11049"/>
                    <a:pt x="11049" y="0"/>
                    <a:pt x="24765" y="0"/>
                  </a:cubicBezTo>
                  <a:lnTo>
                    <a:pt x="5347843" y="0"/>
                  </a:lnTo>
                  <a:cubicBezTo>
                    <a:pt x="5361559" y="0"/>
                    <a:pt x="5372608" y="11049"/>
                    <a:pt x="5372608" y="24765"/>
                  </a:cubicBezTo>
                  <a:lnTo>
                    <a:pt x="5372608" y="824738"/>
                  </a:lnTo>
                  <a:cubicBezTo>
                    <a:pt x="5372608" y="838454"/>
                    <a:pt x="5361559" y="849503"/>
                    <a:pt x="5347843" y="849503"/>
                  </a:cubicBezTo>
                  <a:lnTo>
                    <a:pt x="24765" y="849503"/>
                  </a:lnTo>
                  <a:cubicBezTo>
                    <a:pt x="11049" y="849503"/>
                    <a:pt x="0" y="838454"/>
                    <a:pt x="0" y="824738"/>
                  </a:cubicBezTo>
                  <a:close/>
                </a:path>
              </a:pathLst>
            </a:custGeom>
            <a:solidFill>
              <a:srgbClr val="EAE8F3"/>
            </a:solid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5207498" y="9285389"/>
            <a:ext cx="3781577" cy="203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97"/>
              </a:lnSpc>
            </a:pPr>
            <a:r>
              <a:rPr lang="en-US" sz="120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🛡️</a:t>
            </a:r>
            <a:r>
              <a:rPr lang="en-US" sz="1200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Security Groups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5207498" y="9525895"/>
            <a:ext cx="3781577" cy="1486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80"/>
              </a:lnSpc>
            </a:pPr>
            <a:r>
              <a:rPr lang="en-US" sz="90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Rule-based traffic filtering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9174956" y="9161412"/>
            <a:ext cx="4029370" cy="637137"/>
            <a:chOff x="0" y="0"/>
            <a:chExt cx="5372494" cy="849516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5372481" cy="849503"/>
            </a:xfrm>
            <a:custGeom>
              <a:avLst/>
              <a:gdLst/>
              <a:ahLst/>
              <a:cxnLst/>
              <a:rect r="r" b="b" t="t" l="l"/>
              <a:pathLst>
                <a:path h="849503" w="5372481">
                  <a:moveTo>
                    <a:pt x="0" y="24765"/>
                  </a:moveTo>
                  <a:cubicBezTo>
                    <a:pt x="0" y="11049"/>
                    <a:pt x="11049" y="0"/>
                    <a:pt x="24765" y="0"/>
                  </a:cubicBezTo>
                  <a:lnTo>
                    <a:pt x="5347716" y="0"/>
                  </a:lnTo>
                  <a:cubicBezTo>
                    <a:pt x="5361432" y="0"/>
                    <a:pt x="5372481" y="11049"/>
                    <a:pt x="5372481" y="24765"/>
                  </a:cubicBezTo>
                  <a:lnTo>
                    <a:pt x="5372481" y="824738"/>
                  </a:lnTo>
                  <a:cubicBezTo>
                    <a:pt x="5372481" y="838454"/>
                    <a:pt x="5361432" y="849503"/>
                    <a:pt x="5347716" y="849503"/>
                  </a:cubicBezTo>
                  <a:lnTo>
                    <a:pt x="24765" y="849503"/>
                  </a:lnTo>
                  <a:cubicBezTo>
                    <a:pt x="11049" y="849503"/>
                    <a:pt x="0" y="838454"/>
                    <a:pt x="0" y="824738"/>
                  </a:cubicBezTo>
                  <a:close/>
                </a:path>
              </a:pathLst>
            </a:custGeom>
            <a:solidFill>
              <a:srgbClr val="EAE8F3"/>
            </a:solidFill>
          </p:spPr>
        </p:sp>
      </p:grpSp>
      <p:sp>
        <p:nvSpPr>
          <p:cNvPr name="TextBox 27" id="27"/>
          <p:cNvSpPr txBox="true"/>
          <p:nvPr/>
        </p:nvSpPr>
        <p:spPr>
          <a:xfrm rot="0">
            <a:off x="9298934" y="9285389"/>
            <a:ext cx="3781425" cy="203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97"/>
              </a:lnSpc>
            </a:pPr>
            <a:r>
              <a:rPr lang="en-US" sz="120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☁️</a:t>
            </a:r>
            <a:r>
              <a:rPr lang="en-US" sz="1200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Elastic IP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298934" y="9525895"/>
            <a:ext cx="3781425" cy="1486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80"/>
              </a:lnSpc>
            </a:pPr>
            <a:r>
              <a:rPr lang="en-US" sz="90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Static public address for EC2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13266239" y="9161412"/>
            <a:ext cx="4029523" cy="637137"/>
            <a:chOff x="0" y="0"/>
            <a:chExt cx="5372697" cy="849516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5372608" cy="849503"/>
            </a:xfrm>
            <a:custGeom>
              <a:avLst/>
              <a:gdLst/>
              <a:ahLst/>
              <a:cxnLst/>
              <a:rect r="r" b="b" t="t" l="l"/>
              <a:pathLst>
                <a:path h="849503" w="5372608">
                  <a:moveTo>
                    <a:pt x="0" y="24765"/>
                  </a:moveTo>
                  <a:cubicBezTo>
                    <a:pt x="0" y="11049"/>
                    <a:pt x="11049" y="0"/>
                    <a:pt x="24765" y="0"/>
                  </a:cubicBezTo>
                  <a:lnTo>
                    <a:pt x="5347843" y="0"/>
                  </a:lnTo>
                  <a:cubicBezTo>
                    <a:pt x="5361559" y="0"/>
                    <a:pt x="5372608" y="11049"/>
                    <a:pt x="5372608" y="24765"/>
                  </a:cubicBezTo>
                  <a:lnTo>
                    <a:pt x="5372608" y="824738"/>
                  </a:lnTo>
                  <a:cubicBezTo>
                    <a:pt x="5372608" y="838454"/>
                    <a:pt x="5361559" y="849503"/>
                    <a:pt x="5347843" y="849503"/>
                  </a:cubicBezTo>
                  <a:lnTo>
                    <a:pt x="24765" y="849503"/>
                  </a:lnTo>
                  <a:cubicBezTo>
                    <a:pt x="11049" y="849503"/>
                    <a:pt x="0" y="838454"/>
                    <a:pt x="0" y="824738"/>
                  </a:cubicBezTo>
                  <a:close/>
                </a:path>
              </a:pathLst>
            </a:custGeom>
            <a:solidFill>
              <a:srgbClr val="EAE8F3"/>
            </a:solidFill>
          </p:spPr>
        </p:sp>
      </p:grpSp>
      <p:sp>
        <p:nvSpPr>
          <p:cNvPr name="TextBox 31" id="31"/>
          <p:cNvSpPr txBox="true"/>
          <p:nvPr/>
        </p:nvSpPr>
        <p:spPr>
          <a:xfrm rot="0">
            <a:off x="13390216" y="9285389"/>
            <a:ext cx="3781577" cy="203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97"/>
              </a:lnSpc>
            </a:pPr>
            <a:r>
              <a:rPr lang="en-US" sz="120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⚡</a:t>
            </a:r>
            <a:r>
              <a:rPr lang="en-US" sz="1200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Nginx Proxy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3390216" y="9525895"/>
            <a:ext cx="3781577" cy="1486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80"/>
              </a:lnSpc>
            </a:pPr>
            <a:r>
              <a:rPr lang="en-US" sz="90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High-performance request routing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4F0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BFA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699640"/>
            <a:ext cx="16303523" cy="6247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42"/>
              </a:lnSpc>
            </a:pPr>
            <a:r>
              <a:rPr lang="en-US" sz="3800">
                <a:solidFill>
                  <a:srgbClr val="403CC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Development Methodology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238" y="1598562"/>
            <a:ext cx="17217923" cy="3046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42"/>
              </a:lnSpc>
            </a:pPr>
            <a:r>
              <a:rPr lang="en-US" sz="150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We followed a structured </a:t>
            </a:r>
            <a:r>
              <a:rPr lang="en-US" sz="1500" b="true">
                <a:solidFill>
                  <a:srgbClr val="49495A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Agile-inspired waterfall approach</a:t>
            </a:r>
            <a:r>
              <a:rPr lang="en-US" sz="150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 — ensuring each phase was validated before moving forward, with continuous feedback loops for quality assurance.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129712" y="2073478"/>
            <a:ext cx="28575" cy="7494689"/>
            <a:chOff x="0" y="0"/>
            <a:chExt cx="38100" cy="999291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8100" cy="9992868"/>
            </a:xfrm>
            <a:custGeom>
              <a:avLst/>
              <a:gdLst/>
              <a:ahLst/>
              <a:cxnLst/>
              <a:rect r="r" b="b" t="t" l="l"/>
              <a:pathLst>
                <a:path h="9992868" w="381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cubicBezTo>
                    <a:pt x="29591" y="0"/>
                    <a:pt x="38100" y="8509"/>
                    <a:pt x="38100" y="19050"/>
                  </a:cubicBezTo>
                  <a:lnTo>
                    <a:pt x="38100" y="9973818"/>
                  </a:lnTo>
                  <a:cubicBezTo>
                    <a:pt x="38100" y="9984360"/>
                    <a:pt x="29591" y="9992868"/>
                    <a:pt x="19050" y="9992868"/>
                  </a:cubicBezTo>
                  <a:cubicBezTo>
                    <a:pt x="8509" y="9992868"/>
                    <a:pt x="0" y="9984360"/>
                    <a:pt x="0" y="9973818"/>
                  </a:cubicBezTo>
                  <a:close/>
                </a:path>
              </a:pathLst>
            </a:custGeom>
            <a:solidFill>
              <a:srgbClr val="D0CED9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373218" y="2277218"/>
            <a:ext cx="581320" cy="28575"/>
            <a:chOff x="0" y="0"/>
            <a:chExt cx="775094" cy="381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75081" cy="38100"/>
            </a:xfrm>
            <a:custGeom>
              <a:avLst/>
              <a:gdLst/>
              <a:ahLst/>
              <a:cxnLst/>
              <a:rect r="r" b="b" t="t" l="l"/>
              <a:pathLst>
                <a:path h="38100" w="775081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756031" y="0"/>
                  </a:lnTo>
                  <a:cubicBezTo>
                    <a:pt x="766572" y="0"/>
                    <a:pt x="775081" y="8509"/>
                    <a:pt x="775081" y="19050"/>
                  </a:cubicBezTo>
                  <a:cubicBezTo>
                    <a:pt x="775081" y="29591"/>
                    <a:pt x="766572" y="38100"/>
                    <a:pt x="756031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D0CED9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8925963" y="2073478"/>
            <a:ext cx="436064" cy="436064"/>
            <a:chOff x="0" y="0"/>
            <a:chExt cx="581419" cy="58141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81406" cy="581406"/>
            </a:xfrm>
            <a:custGeom>
              <a:avLst/>
              <a:gdLst/>
              <a:ahLst/>
              <a:cxnLst/>
              <a:rect r="r" b="b" t="t" l="l"/>
              <a:pathLst>
                <a:path h="581406" w="581406">
                  <a:moveTo>
                    <a:pt x="0" y="38735"/>
                  </a:moveTo>
                  <a:cubicBezTo>
                    <a:pt x="0" y="17399"/>
                    <a:pt x="17399" y="0"/>
                    <a:pt x="38735" y="0"/>
                  </a:cubicBezTo>
                  <a:lnTo>
                    <a:pt x="542671" y="0"/>
                  </a:lnTo>
                  <a:cubicBezTo>
                    <a:pt x="564134" y="0"/>
                    <a:pt x="581406" y="17399"/>
                    <a:pt x="581406" y="38735"/>
                  </a:cubicBezTo>
                  <a:lnTo>
                    <a:pt x="581406" y="542671"/>
                  </a:lnTo>
                  <a:cubicBezTo>
                    <a:pt x="581406" y="564134"/>
                    <a:pt x="564007" y="581406"/>
                    <a:pt x="542671" y="581406"/>
                  </a:cubicBezTo>
                  <a:lnTo>
                    <a:pt x="38735" y="581406"/>
                  </a:lnTo>
                  <a:cubicBezTo>
                    <a:pt x="17399" y="581406"/>
                    <a:pt x="0" y="564007"/>
                    <a:pt x="0" y="542671"/>
                  </a:cubicBezTo>
                  <a:close/>
                </a:path>
              </a:pathLst>
            </a:custGeom>
            <a:solidFill>
              <a:srgbClr val="EAE8F3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8998668" y="2109864"/>
            <a:ext cx="290665" cy="363293"/>
            <a:chOff x="0" y="0"/>
            <a:chExt cx="387553" cy="48439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87549" cy="484387"/>
            </a:xfrm>
            <a:custGeom>
              <a:avLst/>
              <a:gdLst/>
              <a:ahLst/>
              <a:cxnLst/>
              <a:rect r="r" b="b" t="t" l="l"/>
              <a:pathLst>
                <a:path h="484387" w="387549">
                  <a:moveTo>
                    <a:pt x="0" y="0"/>
                  </a:moveTo>
                  <a:lnTo>
                    <a:pt x="387549" y="0"/>
                  </a:lnTo>
                  <a:lnTo>
                    <a:pt x="387549" y="484387"/>
                  </a:lnTo>
                  <a:lnTo>
                    <a:pt x="0" y="48438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10363" t="0" r="-110364" b="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0"/>
              <a:ext cx="387553" cy="4843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>
                  <a:solidFill>
                    <a:srgbClr val="49495A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1</a:t>
              </a: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992238" y="2140001"/>
            <a:ext cx="7182745" cy="3028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371"/>
              </a:lnSpc>
            </a:pPr>
            <a:r>
              <a:rPr lang="en-US" sz="1900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Requirements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92238" y="2505075"/>
            <a:ext cx="7182745" cy="5807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42"/>
              </a:lnSpc>
            </a:pPr>
            <a:r>
              <a:rPr lang="en-US" sz="150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Gathered user stories, defined scope, and documented functional and non-functional requirements.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9333462" y="3355181"/>
            <a:ext cx="581320" cy="28575"/>
            <a:chOff x="0" y="0"/>
            <a:chExt cx="775094" cy="381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775081" cy="38100"/>
            </a:xfrm>
            <a:custGeom>
              <a:avLst/>
              <a:gdLst/>
              <a:ahLst/>
              <a:cxnLst/>
              <a:rect r="r" b="b" t="t" l="l"/>
              <a:pathLst>
                <a:path h="38100" w="775081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756031" y="0"/>
                  </a:lnTo>
                  <a:cubicBezTo>
                    <a:pt x="766572" y="0"/>
                    <a:pt x="775081" y="8509"/>
                    <a:pt x="775081" y="19050"/>
                  </a:cubicBezTo>
                  <a:cubicBezTo>
                    <a:pt x="775081" y="29591"/>
                    <a:pt x="766572" y="38100"/>
                    <a:pt x="756031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D0CED9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8925963" y="3151432"/>
            <a:ext cx="436064" cy="436064"/>
            <a:chOff x="0" y="0"/>
            <a:chExt cx="581419" cy="581419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81406" cy="581406"/>
            </a:xfrm>
            <a:custGeom>
              <a:avLst/>
              <a:gdLst/>
              <a:ahLst/>
              <a:cxnLst/>
              <a:rect r="r" b="b" t="t" l="l"/>
              <a:pathLst>
                <a:path h="581406" w="581406">
                  <a:moveTo>
                    <a:pt x="0" y="38735"/>
                  </a:moveTo>
                  <a:cubicBezTo>
                    <a:pt x="0" y="17399"/>
                    <a:pt x="17399" y="0"/>
                    <a:pt x="38735" y="0"/>
                  </a:cubicBezTo>
                  <a:lnTo>
                    <a:pt x="542671" y="0"/>
                  </a:lnTo>
                  <a:cubicBezTo>
                    <a:pt x="564134" y="0"/>
                    <a:pt x="581406" y="17399"/>
                    <a:pt x="581406" y="38735"/>
                  </a:cubicBezTo>
                  <a:lnTo>
                    <a:pt x="581406" y="542671"/>
                  </a:lnTo>
                  <a:cubicBezTo>
                    <a:pt x="581406" y="564134"/>
                    <a:pt x="564007" y="581406"/>
                    <a:pt x="542671" y="581406"/>
                  </a:cubicBezTo>
                  <a:lnTo>
                    <a:pt x="38735" y="581406"/>
                  </a:lnTo>
                  <a:cubicBezTo>
                    <a:pt x="17399" y="581406"/>
                    <a:pt x="0" y="564007"/>
                    <a:pt x="0" y="542671"/>
                  </a:cubicBezTo>
                  <a:close/>
                </a:path>
              </a:pathLst>
            </a:custGeom>
            <a:solidFill>
              <a:srgbClr val="EAE8F3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8998668" y="3187827"/>
            <a:ext cx="290665" cy="363293"/>
            <a:chOff x="0" y="0"/>
            <a:chExt cx="387553" cy="484391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387549" cy="484387"/>
            </a:xfrm>
            <a:custGeom>
              <a:avLst/>
              <a:gdLst/>
              <a:ahLst/>
              <a:cxnLst/>
              <a:rect r="r" b="b" t="t" l="l"/>
              <a:pathLst>
                <a:path h="484387" w="387549">
                  <a:moveTo>
                    <a:pt x="0" y="0"/>
                  </a:moveTo>
                  <a:lnTo>
                    <a:pt x="387549" y="0"/>
                  </a:lnTo>
                  <a:lnTo>
                    <a:pt x="387549" y="484387"/>
                  </a:lnTo>
                  <a:lnTo>
                    <a:pt x="0" y="48438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10363" t="0" r="-110364" b="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0"/>
              <a:ext cx="387553" cy="4843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>
                  <a:solidFill>
                    <a:srgbClr val="49495A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2</a:t>
              </a: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10113016" y="3217964"/>
            <a:ext cx="7182745" cy="3028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1"/>
              </a:lnSpc>
            </a:pPr>
            <a:r>
              <a:rPr lang="en-US" sz="1900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Design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0113016" y="3583038"/>
            <a:ext cx="7182745" cy="5807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42"/>
              </a:lnSpc>
            </a:pPr>
            <a:r>
              <a:rPr lang="en-US" sz="150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Created wireframes, UI/UX mockups, database schema, and API contract specifications.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8373218" y="4314977"/>
            <a:ext cx="581320" cy="28575"/>
            <a:chOff x="0" y="0"/>
            <a:chExt cx="775094" cy="381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775081" cy="38100"/>
            </a:xfrm>
            <a:custGeom>
              <a:avLst/>
              <a:gdLst/>
              <a:ahLst/>
              <a:cxnLst/>
              <a:rect r="r" b="b" t="t" l="l"/>
              <a:pathLst>
                <a:path h="38100" w="775081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756031" y="0"/>
                  </a:lnTo>
                  <a:cubicBezTo>
                    <a:pt x="766572" y="0"/>
                    <a:pt x="775081" y="8509"/>
                    <a:pt x="775081" y="19050"/>
                  </a:cubicBezTo>
                  <a:cubicBezTo>
                    <a:pt x="775081" y="29591"/>
                    <a:pt x="766572" y="38100"/>
                    <a:pt x="756031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D0CED9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8925963" y="4111228"/>
            <a:ext cx="436064" cy="436064"/>
            <a:chOff x="0" y="0"/>
            <a:chExt cx="581419" cy="581419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581406" cy="581406"/>
            </a:xfrm>
            <a:custGeom>
              <a:avLst/>
              <a:gdLst/>
              <a:ahLst/>
              <a:cxnLst/>
              <a:rect r="r" b="b" t="t" l="l"/>
              <a:pathLst>
                <a:path h="581406" w="581406">
                  <a:moveTo>
                    <a:pt x="0" y="38735"/>
                  </a:moveTo>
                  <a:cubicBezTo>
                    <a:pt x="0" y="17399"/>
                    <a:pt x="17399" y="0"/>
                    <a:pt x="38735" y="0"/>
                  </a:cubicBezTo>
                  <a:lnTo>
                    <a:pt x="542671" y="0"/>
                  </a:lnTo>
                  <a:cubicBezTo>
                    <a:pt x="564134" y="0"/>
                    <a:pt x="581406" y="17399"/>
                    <a:pt x="581406" y="38735"/>
                  </a:cubicBezTo>
                  <a:lnTo>
                    <a:pt x="581406" y="542671"/>
                  </a:lnTo>
                  <a:cubicBezTo>
                    <a:pt x="581406" y="564134"/>
                    <a:pt x="564007" y="581406"/>
                    <a:pt x="542671" y="581406"/>
                  </a:cubicBezTo>
                  <a:lnTo>
                    <a:pt x="38735" y="581406"/>
                  </a:lnTo>
                  <a:cubicBezTo>
                    <a:pt x="17399" y="581406"/>
                    <a:pt x="0" y="564007"/>
                    <a:pt x="0" y="542671"/>
                  </a:cubicBezTo>
                  <a:close/>
                </a:path>
              </a:pathLst>
            </a:custGeom>
            <a:solidFill>
              <a:srgbClr val="EAE8F3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8998668" y="4147614"/>
            <a:ext cx="290665" cy="363293"/>
            <a:chOff x="0" y="0"/>
            <a:chExt cx="387553" cy="484391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387549" cy="484387"/>
            </a:xfrm>
            <a:custGeom>
              <a:avLst/>
              <a:gdLst/>
              <a:ahLst/>
              <a:cxnLst/>
              <a:rect r="r" b="b" t="t" l="l"/>
              <a:pathLst>
                <a:path h="484387" w="387549">
                  <a:moveTo>
                    <a:pt x="0" y="0"/>
                  </a:moveTo>
                  <a:lnTo>
                    <a:pt x="387549" y="0"/>
                  </a:lnTo>
                  <a:lnTo>
                    <a:pt x="387549" y="484387"/>
                  </a:lnTo>
                  <a:lnTo>
                    <a:pt x="0" y="48438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10363" t="0" r="-110364" b="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0"/>
              <a:ext cx="387553" cy="4843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>
                  <a:solidFill>
                    <a:srgbClr val="49495A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3</a:t>
              </a:r>
            </a:p>
          </p:txBody>
        </p:sp>
      </p:grpSp>
      <p:sp>
        <p:nvSpPr>
          <p:cNvPr name="TextBox 35" id="35"/>
          <p:cNvSpPr txBox="true"/>
          <p:nvPr/>
        </p:nvSpPr>
        <p:spPr>
          <a:xfrm rot="0">
            <a:off x="992238" y="4177751"/>
            <a:ext cx="7182745" cy="3028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371"/>
              </a:lnSpc>
            </a:pPr>
            <a:r>
              <a:rPr lang="en-US" sz="1900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Development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992238" y="4542825"/>
            <a:ext cx="7182745" cy="3046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42"/>
              </a:lnSpc>
            </a:pPr>
            <a:r>
              <a:rPr lang="en-US" sz="150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Built frontend with React.js and backend with Spring Boot in iterative sprints.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9333462" y="5274916"/>
            <a:ext cx="581320" cy="28575"/>
            <a:chOff x="0" y="0"/>
            <a:chExt cx="775094" cy="381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775081" cy="38100"/>
            </a:xfrm>
            <a:custGeom>
              <a:avLst/>
              <a:gdLst/>
              <a:ahLst/>
              <a:cxnLst/>
              <a:rect r="r" b="b" t="t" l="l"/>
              <a:pathLst>
                <a:path h="38100" w="775081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756031" y="0"/>
                  </a:lnTo>
                  <a:cubicBezTo>
                    <a:pt x="766572" y="0"/>
                    <a:pt x="775081" y="8509"/>
                    <a:pt x="775081" y="19050"/>
                  </a:cubicBezTo>
                  <a:cubicBezTo>
                    <a:pt x="775081" y="29591"/>
                    <a:pt x="766572" y="38100"/>
                    <a:pt x="756031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D0CED9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8925963" y="5071167"/>
            <a:ext cx="436064" cy="436064"/>
            <a:chOff x="0" y="0"/>
            <a:chExt cx="581419" cy="581419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581406" cy="581406"/>
            </a:xfrm>
            <a:custGeom>
              <a:avLst/>
              <a:gdLst/>
              <a:ahLst/>
              <a:cxnLst/>
              <a:rect r="r" b="b" t="t" l="l"/>
              <a:pathLst>
                <a:path h="581406" w="581406">
                  <a:moveTo>
                    <a:pt x="0" y="38735"/>
                  </a:moveTo>
                  <a:cubicBezTo>
                    <a:pt x="0" y="17399"/>
                    <a:pt x="17399" y="0"/>
                    <a:pt x="38735" y="0"/>
                  </a:cubicBezTo>
                  <a:lnTo>
                    <a:pt x="542671" y="0"/>
                  </a:lnTo>
                  <a:cubicBezTo>
                    <a:pt x="564134" y="0"/>
                    <a:pt x="581406" y="17399"/>
                    <a:pt x="581406" y="38735"/>
                  </a:cubicBezTo>
                  <a:lnTo>
                    <a:pt x="581406" y="542671"/>
                  </a:lnTo>
                  <a:cubicBezTo>
                    <a:pt x="581406" y="564134"/>
                    <a:pt x="564007" y="581406"/>
                    <a:pt x="542671" y="581406"/>
                  </a:cubicBezTo>
                  <a:lnTo>
                    <a:pt x="38735" y="581406"/>
                  </a:lnTo>
                  <a:cubicBezTo>
                    <a:pt x="17399" y="581406"/>
                    <a:pt x="0" y="564007"/>
                    <a:pt x="0" y="542671"/>
                  </a:cubicBezTo>
                  <a:close/>
                </a:path>
              </a:pathLst>
            </a:custGeom>
            <a:solidFill>
              <a:srgbClr val="EAE8F3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8998668" y="5107562"/>
            <a:ext cx="290665" cy="363293"/>
            <a:chOff x="0" y="0"/>
            <a:chExt cx="387553" cy="484391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387549" cy="484387"/>
            </a:xfrm>
            <a:custGeom>
              <a:avLst/>
              <a:gdLst/>
              <a:ahLst/>
              <a:cxnLst/>
              <a:rect r="r" b="b" t="t" l="l"/>
              <a:pathLst>
                <a:path h="484387" w="387549">
                  <a:moveTo>
                    <a:pt x="0" y="0"/>
                  </a:moveTo>
                  <a:lnTo>
                    <a:pt x="387549" y="0"/>
                  </a:lnTo>
                  <a:lnTo>
                    <a:pt x="387549" y="484387"/>
                  </a:lnTo>
                  <a:lnTo>
                    <a:pt x="0" y="48438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10363" t="0" r="-110364" b="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0"/>
              <a:ext cx="387553" cy="4843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>
                  <a:solidFill>
                    <a:srgbClr val="49495A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4</a:t>
              </a:r>
            </a:p>
          </p:txBody>
        </p:sp>
      </p:grpSp>
      <p:sp>
        <p:nvSpPr>
          <p:cNvPr name="TextBox 44" id="44"/>
          <p:cNvSpPr txBox="true"/>
          <p:nvPr/>
        </p:nvSpPr>
        <p:spPr>
          <a:xfrm rot="0">
            <a:off x="10113016" y="5137699"/>
            <a:ext cx="7182745" cy="3028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1"/>
              </a:lnSpc>
            </a:pPr>
            <a:r>
              <a:rPr lang="en-US" sz="1900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Database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0113016" y="5502773"/>
            <a:ext cx="7182745" cy="5807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42"/>
              </a:lnSpc>
            </a:pPr>
            <a:r>
              <a:rPr lang="en-US" sz="150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Designed and normalised PostgreSQL schema with optimised indexes and foreign key relationships.</a:t>
            </a:r>
          </a:p>
        </p:txBody>
      </p:sp>
      <p:grpSp>
        <p:nvGrpSpPr>
          <p:cNvPr name="Group 46" id="46"/>
          <p:cNvGrpSpPr/>
          <p:nvPr/>
        </p:nvGrpSpPr>
        <p:grpSpPr>
          <a:xfrm rot="0">
            <a:off x="8373218" y="6234855"/>
            <a:ext cx="581320" cy="28575"/>
            <a:chOff x="0" y="0"/>
            <a:chExt cx="775094" cy="3810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775081" cy="38100"/>
            </a:xfrm>
            <a:custGeom>
              <a:avLst/>
              <a:gdLst/>
              <a:ahLst/>
              <a:cxnLst/>
              <a:rect r="r" b="b" t="t" l="l"/>
              <a:pathLst>
                <a:path h="38100" w="775081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756031" y="0"/>
                  </a:lnTo>
                  <a:cubicBezTo>
                    <a:pt x="766572" y="0"/>
                    <a:pt x="775081" y="8509"/>
                    <a:pt x="775081" y="19050"/>
                  </a:cubicBezTo>
                  <a:cubicBezTo>
                    <a:pt x="775081" y="29591"/>
                    <a:pt x="766572" y="38100"/>
                    <a:pt x="756031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D0CED9"/>
            </a:solid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8925963" y="6031106"/>
            <a:ext cx="436064" cy="436064"/>
            <a:chOff x="0" y="0"/>
            <a:chExt cx="581419" cy="581419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581406" cy="581406"/>
            </a:xfrm>
            <a:custGeom>
              <a:avLst/>
              <a:gdLst/>
              <a:ahLst/>
              <a:cxnLst/>
              <a:rect r="r" b="b" t="t" l="l"/>
              <a:pathLst>
                <a:path h="581406" w="581406">
                  <a:moveTo>
                    <a:pt x="0" y="38735"/>
                  </a:moveTo>
                  <a:cubicBezTo>
                    <a:pt x="0" y="17399"/>
                    <a:pt x="17399" y="0"/>
                    <a:pt x="38735" y="0"/>
                  </a:cubicBezTo>
                  <a:lnTo>
                    <a:pt x="542671" y="0"/>
                  </a:lnTo>
                  <a:cubicBezTo>
                    <a:pt x="564134" y="0"/>
                    <a:pt x="581406" y="17399"/>
                    <a:pt x="581406" y="38735"/>
                  </a:cubicBezTo>
                  <a:lnTo>
                    <a:pt x="581406" y="542671"/>
                  </a:lnTo>
                  <a:cubicBezTo>
                    <a:pt x="581406" y="564134"/>
                    <a:pt x="564007" y="581406"/>
                    <a:pt x="542671" y="581406"/>
                  </a:cubicBezTo>
                  <a:lnTo>
                    <a:pt x="38735" y="581406"/>
                  </a:lnTo>
                  <a:cubicBezTo>
                    <a:pt x="17399" y="581406"/>
                    <a:pt x="0" y="564007"/>
                    <a:pt x="0" y="542671"/>
                  </a:cubicBezTo>
                  <a:close/>
                </a:path>
              </a:pathLst>
            </a:custGeom>
            <a:solidFill>
              <a:srgbClr val="EAE8F3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8998668" y="6067501"/>
            <a:ext cx="290665" cy="363293"/>
            <a:chOff x="0" y="0"/>
            <a:chExt cx="387553" cy="484391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387549" cy="484387"/>
            </a:xfrm>
            <a:custGeom>
              <a:avLst/>
              <a:gdLst/>
              <a:ahLst/>
              <a:cxnLst/>
              <a:rect r="r" b="b" t="t" l="l"/>
              <a:pathLst>
                <a:path h="484387" w="387549">
                  <a:moveTo>
                    <a:pt x="0" y="0"/>
                  </a:moveTo>
                  <a:lnTo>
                    <a:pt x="387549" y="0"/>
                  </a:lnTo>
                  <a:lnTo>
                    <a:pt x="387549" y="484387"/>
                  </a:lnTo>
                  <a:lnTo>
                    <a:pt x="0" y="48438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10363" t="0" r="-110364" b="0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0"/>
              <a:ext cx="387553" cy="4843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>
                  <a:solidFill>
                    <a:srgbClr val="49495A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5</a:t>
              </a:r>
            </a:p>
          </p:txBody>
        </p:sp>
      </p:grpSp>
      <p:sp>
        <p:nvSpPr>
          <p:cNvPr name="TextBox 53" id="53"/>
          <p:cNvSpPr txBox="true"/>
          <p:nvPr/>
        </p:nvSpPr>
        <p:spPr>
          <a:xfrm rot="0">
            <a:off x="992238" y="6097638"/>
            <a:ext cx="7182745" cy="3028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371"/>
              </a:lnSpc>
            </a:pPr>
            <a:r>
              <a:rPr lang="en-US" sz="1900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Testing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992238" y="6462713"/>
            <a:ext cx="7182745" cy="5807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42"/>
              </a:lnSpc>
            </a:pPr>
            <a:r>
              <a:rPr lang="en-US" sz="150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Conducted unit, integration, and end-to-end testing with bug fixes and performance tuning.</a:t>
            </a:r>
          </a:p>
        </p:txBody>
      </p:sp>
      <p:grpSp>
        <p:nvGrpSpPr>
          <p:cNvPr name="Group 55" id="55"/>
          <p:cNvGrpSpPr/>
          <p:nvPr/>
        </p:nvGrpSpPr>
        <p:grpSpPr>
          <a:xfrm rot="0">
            <a:off x="9333462" y="7194794"/>
            <a:ext cx="581320" cy="28575"/>
            <a:chOff x="0" y="0"/>
            <a:chExt cx="775094" cy="3810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775081" cy="38100"/>
            </a:xfrm>
            <a:custGeom>
              <a:avLst/>
              <a:gdLst/>
              <a:ahLst/>
              <a:cxnLst/>
              <a:rect r="r" b="b" t="t" l="l"/>
              <a:pathLst>
                <a:path h="38100" w="775081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756031" y="0"/>
                  </a:lnTo>
                  <a:cubicBezTo>
                    <a:pt x="766572" y="0"/>
                    <a:pt x="775081" y="8509"/>
                    <a:pt x="775081" y="19050"/>
                  </a:cubicBezTo>
                  <a:cubicBezTo>
                    <a:pt x="775081" y="29591"/>
                    <a:pt x="766572" y="38100"/>
                    <a:pt x="756031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D0CED9"/>
            </a:solidFill>
          </p:spPr>
        </p:sp>
      </p:grpSp>
      <p:grpSp>
        <p:nvGrpSpPr>
          <p:cNvPr name="Group 57" id="57"/>
          <p:cNvGrpSpPr/>
          <p:nvPr/>
        </p:nvGrpSpPr>
        <p:grpSpPr>
          <a:xfrm rot="0">
            <a:off x="8925963" y="6991055"/>
            <a:ext cx="436064" cy="436064"/>
            <a:chOff x="0" y="0"/>
            <a:chExt cx="581419" cy="581419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581406" cy="581406"/>
            </a:xfrm>
            <a:custGeom>
              <a:avLst/>
              <a:gdLst/>
              <a:ahLst/>
              <a:cxnLst/>
              <a:rect r="r" b="b" t="t" l="l"/>
              <a:pathLst>
                <a:path h="581406" w="581406">
                  <a:moveTo>
                    <a:pt x="0" y="38735"/>
                  </a:moveTo>
                  <a:cubicBezTo>
                    <a:pt x="0" y="17399"/>
                    <a:pt x="17399" y="0"/>
                    <a:pt x="38735" y="0"/>
                  </a:cubicBezTo>
                  <a:lnTo>
                    <a:pt x="542671" y="0"/>
                  </a:lnTo>
                  <a:cubicBezTo>
                    <a:pt x="564134" y="0"/>
                    <a:pt x="581406" y="17399"/>
                    <a:pt x="581406" y="38735"/>
                  </a:cubicBezTo>
                  <a:lnTo>
                    <a:pt x="581406" y="542671"/>
                  </a:lnTo>
                  <a:cubicBezTo>
                    <a:pt x="581406" y="564134"/>
                    <a:pt x="564007" y="581406"/>
                    <a:pt x="542671" y="581406"/>
                  </a:cubicBezTo>
                  <a:lnTo>
                    <a:pt x="38735" y="581406"/>
                  </a:lnTo>
                  <a:cubicBezTo>
                    <a:pt x="17399" y="581406"/>
                    <a:pt x="0" y="564007"/>
                    <a:pt x="0" y="542671"/>
                  </a:cubicBezTo>
                  <a:close/>
                </a:path>
              </a:pathLst>
            </a:custGeom>
            <a:solidFill>
              <a:srgbClr val="EAE8F3"/>
            </a:solid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8998668" y="7027440"/>
            <a:ext cx="290665" cy="363293"/>
            <a:chOff x="0" y="0"/>
            <a:chExt cx="387553" cy="484391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387549" cy="484387"/>
            </a:xfrm>
            <a:custGeom>
              <a:avLst/>
              <a:gdLst/>
              <a:ahLst/>
              <a:cxnLst/>
              <a:rect r="r" b="b" t="t" l="l"/>
              <a:pathLst>
                <a:path h="484387" w="387549">
                  <a:moveTo>
                    <a:pt x="0" y="0"/>
                  </a:moveTo>
                  <a:lnTo>
                    <a:pt x="387549" y="0"/>
                  </a:lnTo>
                  <a:lnTo>
                    <a:pt x="387549" y="484387"/>
                  </a:lnTo>
                  <a:lnTo>
                    <a:pt x="0" y="48438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10363" t="0" r="-110364" b="0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0"/>
              <a:ext cx="387553" cy="4843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>
                  <a:solidFill>
                    <a:srgbClr val="49495A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6</a:t>
              </a:r>
            </a:p>
          </p:txBody>
        </p:sp>
      </p:grpSp>
      <p:sp>
        <p:nvSpPr>
          <p:cNvPr name="TextBox 62" id="62"/>
          <p:cNvSpPr txBox="true"/>
          <p:nvPr/>
        </p:nvSpPr>
        <p:spPr>
          <a:xfrm rot="0">
            <a:off x="10113016" y="7057577"/>
            <a:ext cx="7182745" cy="3028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1"/>
              </a:lnSpc>
            </a:pPr>
            <a:r>
              <a:rPr lang="en-US" sz="1900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Deployment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10113016" y="7422652"/>
            <a:ext cx="7182745" cy="5807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42"/>
              </a:lnSpc>
            </a:pPr>
            <a:r>
              <a:rPr lang="en-US" sz="150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Deployed to AWS EC2 with Nginx configuration, SSL setup, and environment hardening.</a:t>
            </a:r>
          </a:p>
        </p:txBody>
      </p:sp>
      <p:grpSp>
        <p:nvGrpSpPr>
          <p:cNvPr name="Group 64" id="64"/>
          <p:cNvGrpSpPr/>
          <p:nvPr/>
        </p:nvGrpSpPr>
        <p:grpSpPr>
          <a:xfrm rot="0">
            <a:off x="8373218" y="8154743"/>
            <a:ext cx="581320" cy="28575"/>
            <a:chOff x="0" y="0"/>
            <a:chExt cx="775094" cy="3810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775081" cy="38100"/>
            </a:xfrm>
            <a:custGeom>
              <a:avLst/>
              <a:gdLst/>
              <a:ahLst/>
              <a:cxnLst/>
              <a:rect r="r" b="b" t="t" l="l"/>
              <a:pathLst>
                <a:path h="38100" w="775081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756031" y="0"/>
                  </a:lnTo>
                  <a:cubicBezTo>
                    <a:pt x="766572" y="0"/>
                    <a:pt x="775081" y="8509"/>
                    <a:pt x="775081" y="19050"/>
                  </a:cubicBezTo>
                  <a:cubicBezTo>
                    <a:pt x="775081" y="29591"/>
                    <a:pt x="766572" y="38100"/>
                    <a:pt x="756031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D0CED9"/>
            </a:solidFill>
          </p:spPr>
        </p:sp>
      </p:grpSp>
      <p:grpSp>
        <p:nvGrpSpPr>
          <p:cNvPr name="Group 66" id="66"/>
          <p:cNvGrpSpPr/>
          <p:nvPr/>
        </p:nvGrpSpPr>
        <p:grpSpPr>
          <a:xfrm rot="0">
            <a:off x="8925963" y="7950994"/>
            <a:ext cx="436064" cy="436064"/>
            <a:chOff x="0" y="0"/>
            <a:chExt cx="581419" cy="581419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581406" cy="581406"/>
            </a:xfrm>
            <a:custGeom>
              <a:avLst/>
              <a:gdLst/>
              <a:ahLst/>
              <a:cxnLst/>
              <a:rect r="r" b="b" t="t" l="l"/>
              <a:pathLst>
                <a:path h="581406" w="581406">
                  <a:moveTo>
                    <a:pt x="0" y="38735"/>
                  </a:moveTo>
                  <a:cubicBezTo>
                    <a:pt x="0" y="17399"/>
                    <a:pt x="17399" y="0"/>
                    <a:pt x="38735" y="0"/>
                  </a:cubicBezTo>
                  <a:lnTo>
                    <a:pt x="542671" y="0"/>
                  </a:lnTo>
                  <a:cubicBezTo>
                    <a:pt x="564134" y="0"/>
                    <a:pt x="581406" y="17399"/>
                    <a:pt x="581406" y="38735"/>
                  </a:cubicBezTo>
                  <a:lnTo>
                    <a:pt x="581406" y="542671"/>
                  </a:lnTo>
                  <a:cubicBezTo>
                    <a:pt x="581406" y="564134"/>
                    <a:pt x="564007" y="581406"/>
                    <a:pt x="542671" y="581406"/>
                  </a:cubicBezTo>
                  <a:lnTo>
                    <a:pt x="38735" y="581406"/>
                  </a:lnTo>
                  <a:cubicBezTo>
                    <a:pt x="17399" y="581406"/>
                    <a:pt x="0" y="564007"/>
                    <a:pt x="0" y="542671"/>
                  </a:cubicBezTo>
                  <a:close/>
                </a:path>
              </a:pathLst>
            </a:custGeom>
            <a:solidFill>
              <a:srgbClr val="EAE8F3"/>
            </a:solid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8998668" y="7987379"/>
            <a:ext cx="290665" cy="363293"/>
            <a:chOff x="0" y="0"/>
            <a:chExt cx="387553" cy="484391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387549" cy="484387"/>
            </a:xfrm>
            <a:custGeom>
              <a:avLst/>
              <a:gdLst/>
              <a:ahLst/>
              <a:cxnLst/>
              <a:rect r="r" b="b" t="t" l="l"/>
              <a:pathLst>
                <a:path h="484387" w="387549">
                  <a:moveTo>
                    <a:pt x="0" y="0"/>
                  </a:moveTo>
                  <a:lnTo>
                    <a:pt x="387549" y="0"/>
                  </a:lnTo>
                  <a:lnTo>
                    <a:pt x="387549" y="484387"/>
                  </a:lnTo>
                  <a:lnTo>
                    <a:pt x="0" y="48438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10363" t="0" r="-110364" b="0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0"/>
              <a:ext cx="387553" cy="4843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>
                  <a:solidFill>
                    <a:srgbClr val="49495A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7</a:t>
              </a:r>
            </a:p>
          </p:txBody>
        </p:sp>
      </p:grpSp>
      <p:sp>
        <p:nvSpPr>
          <p:cNvPr name="TextBox 71" id="71"/>
          <p:cNvSpPr txBox="true"/>
          <p:nvPr/>
        </p:nvSpPr>
        <p:spPr>
          <a:xfrm rot="0">
            <a:off x="992238" y="8017516"/>
            <a:ext cx="7182745" cy="3028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371"/>
              </a:lnSpc>
            </a:pPr>
            <a:r>
              <a:rPr lang="en-US" sz="1900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Continuous Improvement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992238" y="8382591"/>
            <a:ext cx="7182745" cy="5807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42"/>
              </a:lnSpc>
            </a:pPr>
            <a:r>
              <a:rPr lang="en-US" sz="150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Monitored logs, gathered user feedback, and iterated on features and performance.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4F0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BFA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682228"/>
            <a:ext cx="16303523" cy="3876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5"/>
              </a:lnSpc>
            </a:pPr>
            <a:r>
              <a:rPr lang="en-US" sz="2400">
                <a:solidFill>
                  <a:srgbClr val="403CC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AWS Cloud Deployment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238" y="1193902"/>
            <a:ext cx="17217923" cy="1486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80"/>
              </a:lnSpc>
            </a:pPr>
            <a:r>
              <a:rPr lang="en-US" sz="90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The platform is deployed on </a:t>
            </a:r>
            <a:r>
              <a:rPr lang="en-US" sz="900" b="true">
                <a:solidFill>
                  <a:srgbClr val="49495A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Amazon Web Services</a:t>
            </a:r>
            <a:r>
              <a:rPr lang="en-US" sz="90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 using a production-grade infrastructure setup — ensuring high availability, security, and the ability to scale with growing student traffic.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92238" y="1481880"/>
            <a:ext cx="8830713" cy="8830713"/>
            <a:chOff x="0" y="0"/>
            <a:chExt cx="11774284" cy="11774284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11774297" cy="11774297"/>
            </a:xfrm>
            <a:custGeom>
              <a:avLst/>
              <a:gdLst/>
              <a:ahLst/>
              <a:cxnLst/>
              <a:rect r="r" b="b" t="t" l="l"/>
              <a:pathLst>
                <a:path h="11774297" w="11774297">
                  <a:moveTo>
                    <a:pt x="0" y="0"/>
                  </a:moveTo>
                  <a:lnTo>
                    <a:pt x="11774297" y="0"/>
                  </a:lnTo>
                  <a:lnTo>
                    <a:pt x="11774297" y="11774297"/>
                  </a:lnTo>
                  <a:lnTo>
                    <a:pt x="0" y="117742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0134895" y="1474146"/>
            <a:ext cx="7170239" cy="193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97"/>
              </a:lnSpc>
            </a:pPr>
            <a:r>
              <a:rPr lang="en-US" sz="1200">
                <a:solidFill>
                  <a:srgbClr val="403CC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Infrastructure Highlights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354123" y="1880587"/>
            <a:ext cx="3191913" cy="1486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80"/>
              </a:lnSpc>
            </a:pPr>
            <a:r>
              <a:rPr lang="en-US" sz="900" b="true">
                <a:solidFill>
                  <a:srgbClr val="49495A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Ubuntu LTS</a:t>
            </a:r>
            <a:r>
              <a:rPr lang="en-US" sz="90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 on EC2 — Stable, secure OS environment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970194" y="1880587"/>
            <a:ext cx="3191913" cy="2973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80"/>
              </a:lnSpc>
            </a:pPr>
            <a:r>
              <a:rPr lang="en-US" sz="900" b="true">
                <a:solidFill>
                  <a:srgbClr val="49495A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Elastic IP</a:t>
            </a:r>
            <a:r>
              <a:rPr lang="en-US" sz="90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 — Persistent public address for zero-downtime updates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354123" y="2525906"/>
            <a:ext cx="3191913" cy="2973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80"/>
              </a:lnSpc>
            </a:pPr>
            <a:r>
              <a:rPr lang="en-US" sz="900" b="true">
                <a:solidFill>
                  <a:srgbClr val="49495A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VPC + Security Groups</a:t>
            </a:r>
            <a:r>
              <a:rPr lang="en-US" sz="90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 — Network-level isolation and firewall rules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970194" y="2525906"/>
            <a:ext cx="3191913" cy="2973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80"/>
              </a:lnSpc>
            </a:pPr>
            <a:r>
              <a:rPr lang="en-US" sz="900" b="true">
                <a:solidFill>
                  <a:srgbClr val="49495A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SSH Access</a:t>
            </a:r>
            <a:r>
              <a:rPr lang="en-US" sz="90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 — Secure remote management and deployment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354123" y="3171234"/>
            <a:ext cx="3191913" cy="2973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80"/>
              </a:lnSpc>
            </a:pPr>
            <a:r>
              <a:rPr lang="en-US" sz="900" b="true">
                <a:solidFill>
                  <a:srgbClr val="49495A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GitHub Integration</a:t>
            </a:r>
            <a:r>
              <a:rPr lang="en-US" sz="90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 — Version-controlled, auditable deployments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4F0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BFA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698449"/>
            <a:ext cx="16303523" cy="685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16"/>
              </a:lnSpc>
            </a:pPr>
            <a:r>
              <a:rPr lang="en-US" sz="4100">
                <a:solidFill>
                  <a:srgbClr val="403CC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Student Journey: From Login to Placement Ready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238" y="1711966"/>
            <a:ext cx="16303523" cy="6724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0"/>
              </a:lnSpc>
            </a:pPr>
            <a:r>
              <a:rPr lang="en-US" sz="160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A seamless, guided workflow takes students from their first login all the way to being fully placement-ready — with every step tracked, measured, and optimised for success.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92238" y="2590352"/>
            <a:ext cx="5434460" cy="852783"/>
            <a:chOff x="0" y="0"/>
            <a:chExt cx="7245947" cy="1137044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7245985" cy="1137031"/>
            </a:xfrm>
            <a:custGeom>
              <a:avLst/>
              <a:gdLst/>
              <a:ahLst/>
              <a:cxnLst/>
              <a:rect r="r" b="b" t="t" l="l"/>
              <a:pathLst>
                <a:path h="1137031" w="7245985">
                  <a:moveTo>
                    <a:pt x="0" y="0"/>
                  </a:moveTo>
                  <a:lnTo>
                    <a:pt x="7245985" y="0"/>
                  </a:lnTo>
                  <a:lnTo>
                    <a:pt x="7245985" y="1137031"/>
                  </a:lnTo>
                  <a:lnTo>
                    <a:pt x="0" y="11370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22" r="0" b="-223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205360" y="3626348"/>
            <a:ext cx="5008216" cy="333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6"/>
              </a:lnSpc>
            </a:pPr>
            <a:r>
              <a:rPr lang="en-US" sz="2000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Student Login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05360" y="4031161"/>
            <a:ext cx="5008216" cy="6724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0"/>
              </a:lnSpc>
            </a:pPr>
            <a:r>
              <a:rPr lang="en-US" sz="160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Secure authentication and personalised onboarding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6426698" y="2590352"/>
            <a:ext cx="5434460" cy="852783"/>
            <a:chOff x="0" y="0"/>
            <a:chExt cx="7245947" cy="1137044"/>
          </a:xfrm>
        </p:grpSpPr>
        <p:sp>
          <p:nvSpPr>
            <p:cNvPr name="Freeform 13" id="13" descr="preencoded.png"/>
            <p:cNvSpPr/>
            <p:nvPr/>
          </p:nvSpPr>
          <p:spPr>
            <a:xfrm flipH="false" flipV="false" rot="0">
              <a:off x="0" y="0"/>
              <a:ext cx="7245985" cy="1137031"/>
            </a:xfrm>
            <a:custGeom>
              <a:avLst/>
              <a:gdLst/>
              <a:ahLst/>
              <a:cxnLst/>
              <a:rect r="r" b="b" t="t" l="l"/>
              <a:pathLst>
                <a:path h="1137031" w="7245985">
                  <a:moveTo>
                    <a:pt x="0" y="0"/>
                  </a:moveTo>
                  <a:lnTo>
                    <a:pt x="7245985" y="0"/>
                  </a:lnTo>
                  <a:lnTo>
                    <a:pt x="7245985" y="1137031"/>
                  </a:lnTo>
                  <a:lnTo>
                    <a:pt x="0" y="11370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22" r="0" b="-223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6639820" y="3626348"/>
            <a:ext cx="5008216" cy="333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6"/>
              </a:lnSpc>
            </a:pPr>
            <a:r>
              <a:rPr lang="en-US" sz="2000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Dashboard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639820" y="4031161"/>
            <a:ext cx="5008216" cy="6724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0"/>
              </a:lnSpc>
            </a:pPr>
            <a:r>
              <a:rPr lang="en-US" sz="160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Overview of progress, pending modules, and placement alerts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1861159" y="2590352"/>
            <a:ext cx="5434460" cy="852783"/>
            <a:chOff x="0" y="0"/>
            <a:chExt cx="7245947" cy="1137044"/>
          </a:xfrm>
        </p:grpSpPr>
        <p:sp>
          <p:nvSpPr>
            <p:cNvPr name="Freeform 17" id="17" descr="preencoded.png"/>
            <p:cNvSpPr/>
            <p:nvPr/>
          </p:nvSpPr>
          <p:spPr>
            <a:xfrm flipH="false" flipV="false" rot="0">
              <a:off x="0" y="0"/>
              <a:ext cx="7245985" cy="1137031"/>
            </a:xfrm>
            <a:custGeom>
              <a:avLst/>
              <a:gdLst/>
              <a:ahLst/>
              <a:cxnLst/>
              <a:rect r="r" b="b" t="t" l="l"/>
              <a:pathLst>
                <a:path h="1137031" w="7245985">
                  <a:moveTo>
                    <a:pt x="0" y="0"/>
                  </a:moveTo>
                  <a:lnTo>
                    <a:pt x="7245985" y="0"/>
                  </a:lnTo>
                  <a:lnTo>
                    <a:pt x="7245985" y="1137031"/>
                  </a:lnTo>
                  <a:lnTo>
                    <a:pt x="0" y="11370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222" r="0" b="-223"/>
              </a:stretch>
            </a:blip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12074281" y="3626348"/>
            <a:ext cx="5008216" cy="333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6"/>
              </a:lnSpc>
            </a:pPr>
            <a:r>
              <a:rPr lang="en-US" sz="2000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Select Module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074281" y="4031161"/>
            <a:ext cx="5008216" cy="6724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0"/>
              </a:lnSpc>
            </a:pPr>
            <a:r>
              <a:rPr lang="en-US" sz="160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Choose from Aptitude, Coding, Core Subjects, or Resume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992238" y="4916691"/>
            <a:ext cx="5434460" cy="852783"/>
            <a:chOff x="0" y="0"/>
            <a:chExt cx="7245947" cy="1137044"/>
          </a:xfrm>
        </p:grpSpPr>
        <p:sp>
          <p:nvSpPr>
            <p:cNvPr name="Freeform 21" id="21" descr="preencoded.png"/>
            <p:cNvSpPr/>
            <p:nvPr/>
          </p:nvSpPr>
          <p:spPr>
            <a:xfrm flipH="false" flipV="false" rot="0">
              <a:off x="0" y="0"/>
              <a:ext cx="7245985" cy="1137031"/>
            </a:xfrm>
            <a:custGeom>
              <a:avLst/>
              <a:gdLst/>
              <a:ahLst/>
              <a:cxnLst/>
              <a:rect r="r" b="b" t="t" l="l"/>
              <a:pathLst>
                <a:path h="1137031" w="7245985">
                  <a:moveTo>
                    <a:pt x="0" y="0"/>
                  </a:moveTo>
                  <a:lnTo>
                    <a:pt x="7245985" y="0"/>
                  </a:lnTo>
                  <a:lnTo>
                    <a:pt x="7245985" y="1137031"/>
                  </a:lnTo>
                  <a:lnTo>
                    <a:pt x="0" y="11370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222" r="0" b="-223"/>
              </a:stretch>
            </a:blip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1205360" y="5952677"/>
            <a:ext cx="5008216" cy="333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6"/>
              </a:lnSpc>
            </a:pPr>
            <a:r>
              <a:rPr lang="en-US" sz="2000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Practice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05360" y="6357490"/>
            <a:ext cx="5008216" cy="6724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0"/>
              </a:lnSpc>
            </a:pPr>
            <a:r>
              <a:rPr lang="en-US" sz="160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Timed exercises with instant feedback and explanations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6426698" y="4916691"/>
            <a:ext cx="5434460" cy="852783"/>
            <a:chOff x="0" y="0"/>
            <a:chExt cx="7245947" cy="1137044"/>
          </a:xfrm>
        </p:grpSpPr>
        <p:sp>
          <p:nvSpPr>
            <p:cNvPr name="Freeform 25" id="25" descr="preencoded.png"/>
            <p:cNvSpPr/>
            <p:nvPr/>
          </p:nvSpPr>
          <p:spPr>
            <a:xfrm flipH="false" flipV="false" rot="0">
              <a:off x="0" y="0"/>
              <a:ext cx="7245985" cy="1137031"/>
            </a:xfrm>
            <a:custGeom>
              <a:avLst/>
              <a:gdLst/>
              <a:ahLst/>
              <a:cxnLst/>
              <a:rect r="r" b="b" t="t" l="l"/>
              <a:pathLst>
                <a:path h="1137031" w="7245985">
                  <a:moveTo>
                    <a:pt x="0" y="0"/>
                  </a:moveTo>
                  <a:lnTo>
                    <a:pt x="7245985" y="0"/>
                  </a:lnTo>
                  <a:lnTo>
                    <a:pt x="7245985" y="1137031"/>
                  </a:lnTo>
                  <a:lnTo>
                    <a:pt x="0" y="11370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222" r="0" b="-223"/>
              </a:stretch>
            </a:blip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6639820" y="5952677"/>
            <a:ext cx="5008216" cy="333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6"/>
              </a:lnSpc>
            </a:pPr>
            <a:r>
              <a:rPr lang="en-US" sz="2000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Mock Test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6639820" y="6357490"/>
            <a:ext cx="5008216" cy="6724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0"/>
              </a:lnSpc>
            </a:pPr>
            <a:r>
              <a:rPr lang="en-US" sz="160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Full-length simulated assessments with performance analytics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11861159" y="4916691"/>
            <a:ext cx="5434460" cy="852783"/>
            <a:chOff x="0" y="0"/>
            <a:chExt cx="7245947" cy="1137044"/>
          </a:xfrm>
        </p:grpSpPr>
        <p:sp>
          <p:nvSpPr>
            <p:cNvPr name="Freeform 29" id="29" descr="preencoded.png"/>
            <p:cNvSpPr/>
            <p:nvPr/>
          </p:nvSpPr>
          <p:spPr>
            <a:xfrm flipH="false" flipV="false" rot="0">
              <a:off x="0" y="0"/>
              <a:ext cx="7245985" cy="1137031"/>
            </a:xfrm>
            <a:custGeom>
              <a:avLst/>
              <a:gdLst/>
              <a:ahLst/>
              <a:cxnLst/>
              <a:rect r="r" b="b" t="t" l="l"/>
              <a:pathLst>
                <a:path h="1137031" w="7245985">
                  <a:moveTo>
                    <a:pt x="0" y="0"/>
                  </a:moveTo>
                  <a:lnTo>
                    <a:pt x="7245985" y="0"/>
                  </a:lnTo>
                  <a:lnTo>
                    <a:pt x="7245985" y="1137031"/>
                  </a:lnTo>
                  <a:lnTo>
                    <a:pt x="0" y="11370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222" r="0" b="-223"/>
              </a:stretch>
            </a:blipFill>
          </p:spPr>
        </p:sp>
      </p:grpSp>
      <p:sp>
        <p:nvSpPr>
          <p:cNvPr name="TextBox 30" id="30"/>
          <p:cNvSpPr txBox="true"/>
          <p:nvPr/>
        </p:nvSpPr>
        <p:spPr>
          <a:xfrm rot="0">
            <a:off x="12074281" y="5952677"/>
            <a:ext cx="5008216" cy="333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6"/>
              </a:lnSpc>
            </a:pPr>
            <a:r>
              <a:rPr lang="en-US" sz="2000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Interview Prep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2074281" y="6357490"/>
            <a:ext cx="5008216" cy="6724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0"/>
              </a:lnSpc>
            </a:pPr>
            <a:r>
              <a:rPr lang="en-US" sz="160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Mock interviews, HR questions, and technical round practice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992238" y="7243020"/>
            <a:ext cx="5434460" cy="852783"/>
            <a:chOff x="0" y="0"/>
            <a:chExt cx="7245947" cy="1137044"/>
          </a:xfrm>
        </p:grpSpPr>
        <p:sp>
          <p:nvSpPr>
            <p:cNvPr name="Freeform 33" id="33" descr="preencoded.png"/>
            <p:cNvSpPr/>
            <p:nvPr/>
          </p:nvSpPr>
          <p:spPr>
            <a:xfrm flipH="false" flipV="false" rot="0">
              <a:off x="0" y="0"/>
              <a:ext cx="7245985" cy="1137031"/>
            </a:xfrm>
            <a:custGeom>
              <a:avLst/>
              <a:gdLst/>
              <a:ahLst/>
              <a:cxnLst/>
              <a:rect r="r" b="b" t="t" l="l"/>
              <a:pathLst>
                <a:path h="1137031" w="7245985">
                  <a:moveTo>
                    <a:pt x="0" y="0"/>
                  </a:moveTo>
                  <a:lnTo>
                    <a:pt x="7245985" y="0"/>
                  </a:lnTo>
                  <a:lnTo>
                    <a:pt x="7245985" y="1137031"/>
                  </a:lnTo>
                  <a:lnTo>
                    <a:pt x="0" y="11370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-222" r="0" b="-223"/>
              </a:stretch>
            </a:blipFill>
          </p:spPr>
        </p:sp>
      </p:grpSp>
      <p:sp>
        <p:nvSpPr>
          <p:cNvPr name="TextBox 34" id="34"/>
          <p:cNvSpPr txBox="true"/>
          <p:nvPr/>
        </p:nvSpPr>
        <p:spPr>
          <a:xfrm rot="0">
            <a:off x="1205360" y="8279006"/>
            <a:ext cx="5008216" cy="333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6"/>
              </a:lnSpc>
            </a:pPr>
            <a:r>
              <a:rPr lang="en-US" sz="2000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Placement Ready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205360" y="8683828"/>
            <a:ext cx="5008216" cy="6724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0"/>
              </a:lnSpc>
            </a:pPr>
            <a:r>
              <a:rPr lang="en-US" sz="160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Confident, prepared, and ready to crack any campus drive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4F0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BFA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713337"/>
            <a:ext cx="16303523" cy="5182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93"/>
              </a:lnSpc>
            </a:pPr>
            <a:r>
              <a:rPr lang="en-US" sz="3200">
                <a:solidFill>
                  <a:srgbClr val="403CC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Results, Roadmap &amp; Conclusion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92238" y="1511798"/>
            <a:ext cx="7786087" cy="4379566"/>
            <a:chOff x="0" y="0"/>
            <a:chExt cx="10381450" cy="5839422"/>
          </a:xfrm>
        </p:grpSpPr>
        <p:sp>
          <p:nvSpPr>
            <p:cNvPr name="Freeform 8" id="8" descr="preencoded.png"/>
            <p:cNvSpPr/>
            <p:nvPr/>
          </p:nvSpPr>
          <p:spPr>
            <a:xfrm flipH="false" flipV="false" rot="0">
              <a:off x="0" y="0"/>
              <a:ext cx="10381488" cy="5839460"/>
            </a:xfrm>
            <a:custGeom>
              <a:avLst/>
              <a:gdLst/>
              <a:ahLst/>
              <a:cxnLst/>
              <a:rect r="r" b="b" t="t" l="l"/>
              <a:pathLst>
                <a:path h="5839460" w="10381488">
                  <a:moveTo>
                    <a:pt x="0" y="0"/>
                  </a:moveTo>
                  <a:lnTo>
                    <a:pt x="10381488" y="0"/>
                  </a:lnTo>
                  <a:lnTo>
                    <a:pt x="10381488" y="5839460"/>
                  </a:lnTo>
                  <a:lnTo>
                    <a:pt x="0" y="58394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2" t="0" r="-11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9184929" y="1432322"/>
            <a:ext cx="7878918" cy="4431802"/>
            <a:chOff x="0" y="0"/>
            <a:chExt cx="10505224" cy="5909069"/>
          </a:xfrm>
        </p:grpSpPr>
        <p:sp>
          <p:nvSpPr>
            <p:cNvPr name="Freeform 10" id="10" descr="preencoded.png"/>
            <p:cNvSpPr/>
            <p:nvPr/>
          </p:nvSpPr>
          <p:spPr>
            <a:xfrm flipH="false" flipV="false" rot="0">
              <a:off x="0" y="0"/>
              <a:ext cx="10505186" cy="5909056"/>
            </a:xfrm>
            <a:custGeom>
              <a:avLst/>
              <a:gdLst/>
              <a:ahLst/>
              <a:cxnLst/>
              <a:rect r="r" b="b" t="t" l="l"/>
              <a:pathLst>
                <a:path h="5909056" w="10505186">
                  <a:moveTo>
                    <a:pt x="0" y="0"/>
                  </a:moveTo>
                  <a:lnTo>
                    <a:pt x="10505186" y="0"/>
                  </a:lnTo>
                  <a:lnTo>
                    <a:pt x="10505186" y="5909056"/>
                  </a:lnTo>
                  <a:lnTo>
                    <a:pt x="0" y="59090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9" t="0" r="-9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992238" y="6507356"/>
            <a:ext cx="16303523" cy="2541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96"/>
              </a:lnSpc>
            </a:pPr>
            <a:r>
              <a:rPr lang="en-US" sz="160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🚀</a:t>
            </a:r>
            <a:r>
              <a:rPr lang="en-US" sz="1600">
                <a:solidFill>
                  <a:srgbClr val="403CC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Future Enhancements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992238" y="6921694"/>
            <a:ext cx="3995738" cy="859184"/>
            <a:chOff x="0" y="0"/>
            <a:chExt cx="5327650" cy="114557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327650" cy="1145540"/>
            </a:xfrm>
            <a:custGeom>
              <a:avLst/>
              <a:gdLst/>
              <a:ahLst/>
              <a:cxnLst/>
              <a:rect r="r" b="b" t="t" l="l"/>
              <a:pathLst>
                <a:path h="1145540" w="5327650">
                  <a:moveTo>
                    <a:pt x="0" y="32512"/>
                  </a:moveTo>
                  <a:cubicBezTo>
                    <a:pt x="0" y="14605"/>
                    <a:pt x="14605" y="0"/>
                    <a:pt x="32512" y="0"/>
                  </a:cubicBezTo>
                  <a:lnTo>
                    <a:pt x="5295138" y="0"/>
                  </a:lnTo>
                  <a:cubicBezTo>
                    <a:pt x="5313172" y="0"/>
                    <a:pt x="5327650" y="14605"/>
                    <a:pt x="5327650" y="32512"/>
                  </a:cubicBezTo>
                  <a:lnTo>
                    <a:pt x="5327650" y="1113028"/>
                  </a:lnTo>
                  <a:cubicBezTo>
                    <a:pt x="5327650" y="1131062"/>
                    <a:pt x="5313045" y="1145540"/>
                    <a:pt x="5295138" y="1145540"/>
                  </a:cubicBezTo>
                  <a:lnTo>
                    <a:pt x="32512" y="1145540"/>
                  </a:lnTo>
                  <a:cubicBezTo>
                    <a:pt x="14605" y="1145540"/>
                    <a:pt x="0" y="1131062"/>
                    <a:pt x="0" y="1113028"/>
                  </a:cubicBezTo>
                  <a:close/>
                </a:path>
              </a:pathLst>
            </a:custGeom>
            <a:solidFill>
              <a:srgbClr val="EAE8F3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154906" y="7084371"/>
            <a:ext cx="3670402" cy="2541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96"/>
              </a:lnSpc>
            </a:pPr>
            <a:r>
              <a:rPr lang="en-US" sz="160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🤖</a:t>
            </a:r>
            <a:r>
              <a:rPr lang="en-US" sz="1600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AI Career Guidance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54906" y="7393038"/>
            <a:ext cx="3670402" cy="2251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84"/>
              </a:lnSpc>
            </a:pPr>
            <a:r>
              <a:rPr lang="en-US" sz="120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Personalised roadmaps powered by ML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5094684" y="6921694"/>
            <a:ext cx="3995890" cy="859184"/>
            <a:chOff x="0" y="0"/>
            <a:chExt cx="5327853" cy="114557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327777" cy="1145540"/>
            </a:xfrm>
            <a:custGeom>
              <a:avLst/>
              <a:gdLst/>
              <a:ahLst/>
              <a:cxnLst/>
              <a:rect r="r" b="b" t="t" l="l"/>
              <a:pathLst>
                <a:path h="1145540" w="5327777">
                  <a:moveTo>
                    <a:pt x="0" y="32512"/>
                  </a:moveTo>
                  <a:cubicBezTo>
                    <a:pt x="0" y="14605"/>
                    <a:pt x="14605" y="0"/>
                    <a:pt x="32512" y="0"/>
                  </a:cubicBezTo>
                  <a:lnTo>
                    <a:pt x="5295265" y="0"/>
                  </a:lnTo>
                  <a:cubicBezTo>
                    <a:pt x="5313299" y="0"/>
                    <a:pt x="5327777" y="14605"/>
                    <a:pt x="5327777" y="32512"/>
                  </a:cubicBezTo>
                  <a:lnTo>
                    <a:pt x="5327777" y="1113028"/>
                  </a:lnTo>
                  <a:cubicBezTo>
                    <a:pt x="5327777" y="1131062"/>
                    <a:pt x="5313172" y="1145540"/>
                    <a:pt x="5295265" y="1145540"/>
                  </a:cubicBezTo>
                  <a:lnTo>
                    <a:pt x="32512" y="1145540"/>
                  </a:lnTo>
                  <a:cubicBezTo>
                    <a:pt x="14605" y="1145540"/>
                    <a:pt x="0" y="1131062"/>
                    <a:pt x="0" y="1113028"/>
                  </a:cubicBezTo>
                  <a:close/>
                </a:path>
              </a:pathLst>
            </a:custGeom>
            <a:solidFill>
              <a:srgbClr val="EAE8F3"/>
            </a:soli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5257352" y="7084371"/>
            <a:ext cx="3670544" cy="2541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96"/>
              </a:lnSpc>
            </a:pPr>
            <a:r>
              <a:rPr lang="en-US" sz="160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💬</a:t>
            </a:r>
            <a:r>
              <a:rPr lang="en-US" sz="1600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Chatbot Assistant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5257352" y="7393038"/>
            <a:ext cx="3670544" cy="2251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84"/>
              </a:lnSpc>
            </a:pPr>
            <a:r>
              <a:rPr lang="en-US" sz="120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24/7 doubt resolution and mentorship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9197283" y="6921694"/>
            <a:ext cx="3995890" cy="859184"/>
            <a:chOff x="0" y="0"/>
            <a:chExt cx="5327853" cy="114557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327777" cy="1145540"/>
            </a:xfrm>
            <a:custGeom>
              <a:avLst/>
              <a:gdLst/>
              <a:ahLst/>
              <a:cxnLst/>
              <a:rect r="r" b="b" t="t" l="l"/>
              <a:pathLst>
                <a:path h="1145540" w="5327777">
                  <a:moveTo>
                    <a:pt x="0" y="32512"/>
                  </a:moveTo>
                  <a:cubicBezTo>
                    <a:pt x="0" y="14605"/>
                    <a:pt x="14605" y="0"/>
                    <a:pt x="32512" y="0"/>
                  </a:cubicBezTo>
                  <a:lnTo>
                    <a:pt x="5295265" y="0"/>
                  </a:lnTo>
                  <a:cubicBezTo>
                    <a:pt x="5313299" y="0"/>
                    <a:pt x="5327777" y="14605"/>
                    <a:pt x="5327777" y="32512"/>
                  </a:cubicBezTo>
                  <a:lnTo>
                    <a:pt x="5327777" y="1113028"/>
                  </a:lnTo>
                  <a:cubicBezTo>
                    <a:pt x="5327777" y="1131062"/>
                    <a:pt x="5313172" y="1145540"/>
                    <a:pt x="5295265" y="1145540"/>
                  </a:cubicBezTo>
                  <a:lnTo>
                    <a:pt x="32512" y="1145540"/>
                  </a:lnTo>
                  <a:cubicBezTo>
                    <a:pt x="14605" y="1145540"/>
                    <a:pt x="0" y="1131062"/>
                    <a:pt x="0" y="1113028"/>
                  </a:cubicBezTo>
                  <a:close/>
                </a:path>
              </a:pathLst>
            </a:custGeom>
            <a:solidFill>
              <a:srgbClr val="EAE8F3"/>
            </a:solid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9359951" y="7084371"/>
            <a:ext cx="3670544" cy="2541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96"/>
              </a:lnSpc>
            </a:pPr>
            <a:r>
              <a:rPr lang="en-US" sz="160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📊</a:t>
            </a:r>
            <a:r>
              <a:rPr lang="en-US" sz="1600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Analytics Dashboard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359951" y="7393038"/>
            <a:ext cx="3670544" cy="2251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84"/>
              </a:lnSpc>
            </a:pPr>
            <a:r>
              <a:rPr lang="en-US" sz="120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Student performance insights for colleges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13299872" y="6921694"/>
            <a:ext cx="3995890" cy="859184"/>
            <a:chOff x="0" y="0"/>
            <a:chExt cx="5327853" cy="1145578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327777" cy="1145540"/>
            </a:xfrm>
            <a:custGeom>
              <a:avLst/>
              <a:gdLst/>
              <a:ahLst/>
              <a:cxnLst/>
              <a:rect r="r" b="b" t="t" l="l"/>
              <a:pathLst>
                <a:path h="1145540" w="5327777">
                  <a:moveTo>
                    <a:pt x="0" y="32512"/>
                  </a:moveTo>
                  <a:cubicBezTo>
                    <a:pt x="0" y="14605"/>
                    <a:pt x="14605" y="0"/>
                    <a:pt x="32512" y="0"/>
                  </a:cubicBezTo>
                  <a:lnTo>
                    <a:pt x="5295265" y="0"/>
                  </a:lnTo>
                  <a:cubicBezTo>
                    <a:pt x="5313299" y="0"/>
                    <a:pt x="5327777" y="14605"/>
                    <a:pt x="5327777" y="32512"/>
                  </a:cubicBezTo>
                  <a:lnTo>
                    <a:pt x="5327777" y="1113028"/>
                  </a:lnTo>
                  <a:cubicBezTo>
                    <a:pt x="5327777" y="1131062"/>
                    <a:pt x="5313172" y="1145540"/>
                    <a:pt x="5295265" y="1145540"/>
                  </a:cubicBezTo>
                  <a:lnTo>
                    <a:pt x="32512" y="1145540"/>
                  </a:lnTo>
                  <a:cubicBezTo>
                    <a:pt x="14605" y="1145540"/>
                    <a:pt x="0" y="1131062"/>
                    <a:pt x="0" y="1113028"/>
                  </a:cubicBezTo>
                  <a:close/>
                </a:path>
              </a:pathLst>
            </a:custGeom>
            <a:solidFill>
              <a:srgbClr val="EAE8F3"/>
            </a:solid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13462549" y="7084371"/>
            <a:ext cx="3670544" cy="2541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96"/>
              </a:lnSpc>
            </a:pPr>
            <a:r>
              <a:rPr lang="en-US" sz="160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📱</a:t>
            </a:r>
            <a:r>
              <a:rPr lang="en-US" sz="1600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Mobile App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3462549" y="7393038"/>
            <a:ext cx="3670544" cy="2251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84"/>
              </a:lnSpc>
            </a:pPr>
            <a:r>
              <a:rPr lang="en-US" sz="120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Native iOS and Android experience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992238" y="7941621"/>
            <a:ext cx="16303523" cy="19050"/>
            <a:chOff x="0" y="0"/>
            <a:chExt cx="21738031" cy="254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1738082" cy="25400"/>
            </a:xfrm>
            <a:custGeom>
              <a:avLst/>
              <a:gdLst/>
              <a:ahLst/>
              <a:cxnLst/>
              <a:rect r="r" b="b" t="t" l="l"/>
              <a:pathLst>
                <a:path h="25400" w="21738082">
                  <a:moveTo>
                    <a:pt x="0" y="12700"/>
                  </a:moveTo>
                  <a:cubicBezTo>
                    <a:pt x="0" y="5715"/>
                    <a:pt x="5715" y="0"/>
                    <a:pt x="12700" y="0"/>
                  </a:cubicBezTo>
                  <a:lnTo>
                    <a:pt x="21725382" y="0"/>
                  </a:lnTo>
                  <a:cubicBezTo>
                    <a:pt x="21732368" y="0"/>
                    <a:pt x="21738082" y="5715"/>
                    <a:pt x="21738082" y="12700"/>
                  </a:cubicBezTo>
                  <a:cubicBezTo>
                    <a:pt x="21738082" y="19685"/>
                    <a:pt x="21732368" y="25400"/>
                    <a:pt x="21725382" y="25400"/>
                  </a:cubicBezTo>
                  <a:lnTo>
                    <a:pt x="12700" y="25400"/>
                  </a:lnTo>
                  <a:cubicBezTo>
                    <a:pt x="5715" y="25400"/>
                    <a:pt x="0" y="19685"/>
                    <a:pt x="0" y="12700"/>
                  </a:cubicBezTo>
                  <a:close/>
                </a:path>
              </a:pathLst>
            </a:custGeom>
            <a:solidFill>
              <a:srgbClr val="49495A">
                <a:alpha val="24706"/>
              </a:srgbClr>
            </a:solidFill>
          </p:spPr>
        </p:sp>
      </p:grpSp>
      <p:sp>
        <p:nvSpPr>
          <p:cNvPr name="TextBox 30" id="30"/>
          <p:cNvSpPr txBox="true"/>
          <p:nvPr/>
        </p:nvSpPr>
        <p:spPr>
          <a:xfrm rot="0">
            <a:off x="992238" y="8142389"/>
            <a:ext cx="16303523" cy="4260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9"/>
              </a:lnSpc>
            </a:pPr>
            <a:r>
              <a:rPr lang="en-US" sz="2499">
                <a:solidFill>
                  <a:srgbClr val="403CC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Thank You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992238" y="9064381"/>
            <a:ext cx="16303523" cy="499767"/>
            <a:chOff x="0" y="0"/>
            <a:chExt cx="21738031" cy="666356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1737955" cy="666243"/>
            </a:xfrm>
            <a:custGeom>
              <a:avLst/>
              <a:gdLst/>
              <a:ahLst/>
              <a:cxnLst/>
              <a:rect r="r" b="b" t="t" l="l"/>
              <a:pathLst>
                <a:path h="666243" w="21737955">
                  <a:moveTo>
                    <a:pt x="0" y="32512"/>
                  </a:moveTo>
                  <a:cubicBezTo>
                    <a:pt x="0" y="14605"/>
                    <a:pt x="14605" y="0"/>
                    <a:pt x="32512" y="0"/>
                  </a:cubicBezTo>
                  <a:lnTo>
                    <a:pt x="21705443" y="0"/>
                  </a:lnTo>
                  <a:cubicBezTo>
                    <a:pt x="21723477" y="0"/>
                    <a:pt x="21737955" y="14605"/>
                    <a:pt x="21737955" y="32512"/>
                  </a:cubicBezTo>
                  <a:lnTo>
                    <a:pt x="21737955" y="633730"/>
                  </a:lnTo>
                  <a:cubicBezTo>
                    <a:pt x="21737955" y="651764"/>
                    <a:pt x="21723350" y="666242"/>
                    <a:pt x="21705443" y="666242"/>
                  </a:cubicBezTo>
                  <a:lnTo>
                    <a:pt x="32512" y="666242"/>
                  </a:lnTo>
                  <a:cubicBezTo>
                    <a:pt x="14605" y="666369"/>
                    <a:pt x="0" y="651764"/>
                    <a:pt x="0" y="633730"/>
                  </a:cubicBezTo>
                  <a:close/>
                </a:path>
              </a:pathLst>
            </a:custGeom>
            <a:solidFill>
              <a:srgbClr val="D9D9D9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154906" y="9277645"/>
            <a:ext cx="203444" cy="162668"/>
            <a:chOff x="0" y="0"/>
            <a:chExt cx="271259" cy="216891"/>
          </a:xfrm>
        </p:grpSpPr>
        <p:sp>
          <p:nvSpPr>
            <p:cNvPr name="Freeform 34" id="34" descr="preencoded.png"/>
            <p:cNvSpPr/>
            <p:nvPr/>
          </p:nvSpPr>
          <p:spPr>
            <a:xfrm flipH="false" flipV="false" rot="0">
              <a:off x="0" y="0"/>
              <a:ext cx="271272" cy="216916"/>
            </a:xfrm>
            <a:custGeom>
              <a:avLst/>
              <a:gdLst/>
              <a:ahLst/>
              <a:cxnLst/>
              <a:rect r="r" b="b" t="t" l="l"/>
              <a:pathLst>
                <a:path h="216916" w="271272">
                  <a:moveTo>
                    <a:pt x="0" y="0"/>
                  </a:moveTo>
                  <a:lnTo>
                    <a:pt x="271272" y="0"/>
                  </a:lnTo>
                  <a:lnTo>
                    <a:pt x="271272" y="216916"/>
                  </a:lnTo>
                  <a:lnTo>
                    <a:pt x="0" y="2169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165" r="4" b="-1153"/>
              </a:stretch>
            </a:blipFill>
          </p:spPr>
        </p:sp>
      </p:grpSp>
      <p:sp>
        <p:nvSpPr>
          <p:cNvPr name="TextBox 35" id="35"/>
          <p:cNvSpPr txBox="true"/>
          <p:nvPr/>
        </p:nvSpPr>
        <p:spPr>
          <a:xfrm rot="0">
            <a:off x="1521028" y="9202188"/>
            <a:ext cx="16526466" cy="2251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84"/>
              </a:lnSpc>
            </a:pPr>
            <a:r>
              <a:rPr lang="en-US" sz="12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Questions?</a:t>
            </a:r>
            <a:r>
              <a:rPr lang="en-US" sz="12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We welcome your feedback, suggestions, and curiosity. Let us build the future of placement preparation together.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DAHPXPOaMKY</dc:identifier>
  <dcterms:modified xsi:type="dcterms:W3CDTF">2011-08-01T06:04:30Z</dcterms:modified>
  <cp:revision>1</cp:revision>
</cp:coreProperties>
</file>